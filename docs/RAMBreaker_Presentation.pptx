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'This is RAMBreaker, a RAM forensics toolkit I built. In one sentence: you give it a snapshot of a computer's memory, and it hands you back a full investigation report — automatically, and it works on Windows, Linux, and macOS.'</a:t>
            </a:r>
          </a:p>
          <a:p/>
          <a:p>
            <a:r>
              <a:t>Set the frame: memory forensics is normally slow, expert-only work spread across a dozen tools. This turns it into a single command. I'll show you the problem, how it works, what it finds, and some real results. Keep it to about 30 seconds here — the payoff slides come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audience feel the problem before the solution.</a:t>
            </a:r>
          </a:p>
          <a:p/>
          <a:p>
            <a:r>
              <a:t>Say: 'When a computer is running, its memory is the crime scene. It has the live picture — what's running, who it's talking to, what someone typed, passwords and keys in the clear. The moment you power off, that picture is gone. And a lot of it never touched the hard drive at all — modern malware deliberately runs only in memory to leave no trace.'</a:t>
            </a:r>
          </a:p>
          <a:p/>
          <a:p>
            <a:r>
              <a:t>Then the pain point: 'The catch is that reading a memory snapshot by hand is brutal. You juggle a dozen tools, memorize hundreds of commands, and it's completely different for Windows versus Linux versus macOS. It can take a day of expert work to answer basic questions. That's the gap RAMBreaker closes.'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'aha' slide. Point at the command.</a:t>
            </a:r>
          </a:p>
          <a:p/>
          <a:p>
            <a:r>
              <a:t>Say: 'Here's the whole user experience. You point it at a memory file and that's it. Or run it with no arguments and use the menu. From there it detects the operating system, downloads anything it needs, runs the analysis in parallel, ties the results together, and gives you one interactive report you open in any web browser — no internet, no install, just double-click.'</a:t>
            </a:r>
          </a:p>
          <a:p/>
          <a:p>
            <a:r>
              <a:t>Emphasize the contrast with the previous slide: 'The day of expert work becomes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every cell — sweep the grid and hit the highlights.</a:t>
            </a:r>
          </a:p>
          <a:p/>
          <a:p>
            <a:r>
              <a:t>Say: 'Whatever an investigator actually wants to know, it answers. What was running and what looks off. Who the machine was talking to on the network. Whether there was hidden or injected malware. What commands someone typed — including the living-off-the-land tricks attackers use. Traces of chat apps — Teams, Discord, Zoom, Slack, Signal and more. Browser activity. How something set itself up to survive a reboot — cron jobs, launch agents, scheduled tasks, registry auto-runs. And it maps findings to MITRE ATT&amp;CK and puts everything on one timeline.'</a:t>
            </a:r>
          </a:p>
          <a:p/>
          <a:p>
            <a:r>
              <a:t>Land it: 'All from a single memory image, in one 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'It's genuinely cross-platform — Windows, Linux, and macOS — from one codebase. Each OS needs completely different plugins and even different field names, so in v6 I refactored it: every module that used to juggle all three operating systems is now split into per-OS files, and a thin dispatcher loads the right one at runtime based on what it detected.'</a:t>
            </a:r>
          </a:p>
          <a:p/>
          <a:p>
            <a:r>
              <a:t>If asked why that matters: 'It keeps each operating system's logic clean and independent — no giant if-Windows-elif-Linux blocks — which is what let me add things like macOS file recovery without touching the Windows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labour every step — describe the shape.</a:t>
            </a:r>
          </a:p>
          <a:p/>
          <a:p>
            <a:r>
              <a:t>Say: 'Under the hood it's an eight-stage pipeline. First it runs the right Volatility plugins in parallel and saves structured JSON. Then a single pass over the memory strings pulls out indicators, browser activity, and chat-app traces all at once. It rebuilds the process tree and the network map, flags suspicious processes, analyzes command lines and maps them to MITRE ATT&amp;CK, then correlates everything — linking processes to connections to files. It checks persistence, does Windows registry analysis, builds one merged timeline, and finally renders the interactive report.'</a:t>
            </a:r>
          </a:p>
          <a:p/>
          <a:p>
            <a:r>
              <a:t>Key point: 'Each stage feeds the next — the output is a correlated story, not a pile of disconnected tool outputs.'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impresses the technical people. Slow down here.</a:t>
            </a:r>
          </a:p>
          <a:p/>
          <a:p>
            <a:r>
              <a:t>Say: 'On Linux and macOS, Volatility needs a symbol file that exactly matches the target kernel — and getting the right one is the single biggest pain in Linux memory forensics. Most tools just fail here and make you do it by hand. RAMBreaker automates the entire chain.'</a:t>
            </a:r>
          </a:p>
          <a:p/>
          <a:p>
            <a:r>
              <a:t>Walk the five verbs: 'It reads the kernel banner from the image, downloads the matching symbols with a mirror fallback, and if only a close kernel exists it byte-patches the symbol file to match the exact banner. If nothing exists anywhere, it will build the symbols from debug packages — Debian or Red Hat — using dwarf2json. And it verifies the symbols really work by confirming a raw process scan finds processes, so it never rejects a correct file just because a different plugin came up empty.'</a:t>
            </a:r>
          </a:p>
          <a:p/>
          <a:p>
            <a:r>
              <a:t>Land it: 'That's the difference between a tool that works on your lab image and one that works on a kernel you've never seen.'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main deliverable is a single self-contained HTML report — eleven tabs covering processes, network, shell commands, malware, files, services, popular file locations, persistence, registry, indicators, and a summary. It's one file, it opens offline in any browser, and there's nothing to install — which makes it trivial to hand to a colleague or attach to a case.'</a:t>
            </a:r>
          </a:p>
          <a:p/>
          <a:p>
            <a:r>
              <a:t>Highlight the search: 'It has a global search box that highlights matches across every tab at once, with a hit count per tab and arrow-key navigation. Hunting one IP or filename across the whole investigation is instant.'</a:t>
            </a:r>
          </a:p>
          <a:p/>
          <a:p>
            <a:r>
              <a:t>Mention exports briefly: 'For teams with a SIEM, it also exports JSON, a timeline CSV, ELK-ready NDJSON, and a ZIP pack.'</a:t>
            </a:r>
          </a:p>
          <a:p/>
          <a:p>
            <a:r>
              <a:t>If you can, DEMO the report live right after this slide — it's the strongest moment.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quick — it shows range, not depth.</a:t>
            </a:r>
          </a:p>
          <a:p/>
          <a:p>
            <a:r>
              <a:t>Say: 'It's not one-size-fits-all. There's a deep CORE run; a default that adds Windows event logs; a fast mode that runs just the Volatility plugins; a full DFIR "RAMBreaker Eye" mode that dumps every process and every file for offline analysis; a CTF mode tuned for speed in competitions; and a live Hunt mode that does a YARA-powered search through memory for specific strings without dumping anything first. Same tool, dialed to the situation.'</a:t>
            </a:r>
          </a:p>
          <a:p/>
          <a:p>
            <a:r>
              <a:t>If asked about 'RAMBreaker Eye': 'That one dumps everything, so it's marked experimental and slower — great when you want the raw material, not just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credibility slide — it signals maturity, not just features.</a:t>
            </a:r>
          </a:p>
          <a:p/>
          <a:p>
            <a:r>
              <a:t>Say: 'One principle runs through the whole tool: evidence, not verdicts. It will tell you a process has an unexpected parent, or that something ran from a temp folder — but it deliberately never declares "this is malware." Those are observations for a human to judge, not accusations.'</a:t>
            </a:r>
          </a:p>
          <a:p/>
          <a:p>
            <a:r>
              <a:t>Then the supporting points: 'It's safe by default — password hashes are redacted in the reports, with the raw data kept only in the JSON for when you need it. The indicator patterns are context-anchored to avoid the false positives that naive regex produces. And because it's transparent, reproducible, and evidence-first, the output holds up to scrutiny.'</a:t>
            </a:r>
          </a:p>
          <a:p/>
          <a:p>
            <a:r>
              <a:t>Say why you did it: 'I built it this way on purpose — a forensics tool that cries wolf, or that hides its reasoning, is worse than useless in a real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make it real. Point at the times.</a:t>
            </a:r>
          </a:p>
          <a:p/>
          <a:p>
            <a:r>
              <a:t>Say: 'These are real runs, not projections. A 512 MB Windows Server image, fully analyzed in under a minute. A 2 GB Windows 10 image in under four minutes, pulling almost 27,000 events. macOS in under a minute with symbols resolved automatically.'</a:t>
            </a:r>
          </a:p>
          <a:p/>
          <a:p>
            <a:r>
              <a:t>Be honest about Linux: 'Linux is the slow case — that 4 GB image took about 38 minutes. That's expected: some Linux plugins take eight minutes each and the indicator scan reads nearly 18 million lines of strings. I'd rather be honest about that than hide it — it's a big image doing thorough work.'</a:t>
            </a:r>
          </a:p>
          <a:p/>
          <a:p>
            <a:r>
              <a:t>Land it: 'Across every OS, it produced a complete, correlated report with no manual babysitting.'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'is this a toy or a real tool' question.</a:t>
            </a:r>
          </a:p>
          <a:p/>
          <a:p>
            <a:r>
              <a:t>Say: 'To give a sense of scale — it's about 28,000 lines of Python across more than sixty modules, supporting three operating systems and both Volatility engines, with eleven report tabs and six run modes.'</a:t>
            </a:r>
          </a:p>
          <a:p/>
          <a:p>
            <a:r>
              <a:t>Then the robustness story: 'The engineering that matters is the defensive stuff. Volatility has a nasty habit of reporting success even when a plugin failed, so I validate every result. If the normal process list fails, it falls back to the process tree. Parallelism is capped to what the machine's RAM can actually handle, so it doesn't crash itself. It even ships its own patched plugins — including macOS file-content recovery and a rewritten file-lister that doesn't crash on deep directory trees. And all of that came from actually running it against dozens of real images and fixing what broke.'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Showing limits builds trust — don't skip it.</a:t>
            </a:r>
          </a:p>
          <a:p/>
          <a:p>
            <a:r>
              <a:t>Say: 'I'll be straight about the limits. Linux runs on big images can take half an hour to an hour — that's the nature of the data, not a bug. VMware .vmem images need their companion snapshot file to fully work. macOS is Volatility-3-only and a couple of plugins fail on some images. The dump-everything mode is still experimental. And the very first run pays a one-time cache build that can look frozen but isn't.'</a:t>
            </a:r>
          </a:p>
          <a:p/>
          <a:p>
            <a:r>
              <a:t>Then pivot forward: 'Where it's going: broader automatic symbol coverage so even more kernels just work out of the box, a faster Linux path with a streaming indicator scan, more chat apps and richer MITRE coverage, and a signed evidence manifest for chain-of-custody. The foundation is solid — these are refinements.'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confidence — restate the one-liner and open for questions.</a:t>
            </a:r>
          </a:p>
          <a:p/>
          <a:p>
            <a:r>
              <a:t>Say: 'To sum up: RAMBreaker takes the hardest, most manual part of digital forensics — reading a machine's live memory — and turns it into a single command that works across Windows, Linux, and macOS. It's evidence-first, safe by default, and gives you one portable report anyone can open.'</a:t>
            </a:r>
          </a:p>
          <a:p/>
          <a:p>
            <a:r>
              <a:t>Then: 'Thank you — I'm happy to take questions, or to run a live demo on a real memory image if you'd like to see it end to end.'</a:t>
            </a:r>
          </a:p>
          <a:p/>
          <a:p>
            <a:r>
              <a:t>Anticipated questions to be ready for: How is this different from just using Volatility? (It orchestrates Volatility, automates symbols, correlates results, and reports — the parts Volatility leaves to you.) Is it accurate? (It surfaces evidence, the analyst concludes.) Can it be fooled? (Anti-forensics exists; that's why it shows raw evidence rather than verdicts.)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332720" cy="1463040"/>
          </a:xfrm>
          <a:prstGeom prst="rect">
            <a:avLst/>
          </a:prstGeom>
          <a:noFill/>
        </p:spPr>
        <p:txBody>
          <a:bodyPr wrap="square">
            <a:spAutoFit/>
          </a:bodyPr>
          <a:lstStyle/>
          <a:p>
            <a:pPr algn="l">
              <a:spcBef>
                <a:spcPts val="0"/>
              </a:spcBef>
              <a:spcAft>
                <a:spcPts val="600"/>
              </a:spcAft>
            </a:pPr>
            <a:r>
              <a:rPr sz="6600" b="1" i="0">
                <a:solidFill>
                  <a:srgbClr val="2EC4B6"/>
                </a:solidFill>
                <a:latin typeface="Calibri"/>
              </a:rPr>
              <a:t>RAMBreaker</a:t>
            </a:r>
          </a:p>
        </p:txBody>
      </p:sp>
      <p:sp>
        <p:nvSpPr>
          <p:cNvPr id="5" name="TextBox 4"/>
          <p:cNvSpPr txBox="1"/>
          <p:nvPr/>
        </p:nvSpPr>
        <p:spPr>
          <a:xfrm>
            <a:off x="932688" y="3246120"/>
            <a:ext cx="10332720" cy="914400"/>
          </a:xfrm>
          <a:prstGeom prst="rect">
            <a:avLst/>
          </a:prstGeom>
          <a:noFill/>
        </p:spPr>
        <p:txBody>
          <a:bodyPr wrap="square">
            <a:spAutoFit/>
          </a:bodyPr>
          <a:lstStyle/>
          <a:p>
            <a:pPr algn="l">
              <a:spcBef>
                <a:spcPts val="0"/>
              </a:spcBef>
              <a:spcAft>
                <a:spcPts val="600"/>
              </a:spcAft>
            </a:pPr>
            <a:r>
              <a:rPr sz="2600" b="0" i="0">
                <a:solidFill>
                  <a:srgbClr val="F2F6F7"/>
                </a:solidFill>
                <a:latin typeface="Calibri"/>
              </a:rPr>
              <a:t>RAM Forensics Toolkit — v6.2</a:t>
            </a:r>
          </a:p>
        </p:txBody>
      </p:sp>
      <p:sp>
        <p:nvSpPr>
          <p:cNvPr id="6" name="TextBox 5"/>
          <p:cNvSpPr txBox="1"/>
          <p:nvPr/>
        </p:nvSpPr>
        <p:spPr>
          <a:xfrm>
            <a:off x="932688" y="3977639"/>
            <a:ext cx="10332720" cy="731520"/>
          </a:xfrm>
          <a:prstGeom prst="rect">
            <a:avLst/>
          </a:prstGeom>
          <a:noFill/>
        </p:spPr>
        <p:txBody>
          <a:bodyPr wrap="square">
            <a:spAutoFit/>
          </a:bodyPr>
          <a:lstStyle/>
          <a:p>
            <a:pPr algn="l">
              <a:spcBef>
                <a:spcPts val="0"/>
              </a:spcBef>
              <a:spcAft>
                <a:spcPts val="600"/>
              </a:spcAft>
            </a:pPr>
            <a:r>
              <a:rPr sz="1600" b="0" i="1">
                <a:solidFill>
                  <a:srgbClr val="A9BABE"/>
                </a:solidFill>
                <a:latin typeface="Calibri"/>
              </a:rPr>
              <a:t>From a raw memory image to a readable investigation — automatically, across Windows, Linux &amp; macOS.</a:t>
            </a:r>
          </a:p>
        </p:txBody>
      </p:sp>
      <p:sp>
        <p:nvSpPr>
          <p:cNvPr id="7" name="Rectangle 6"/>
          <p:cNvSpPr/>
          <p:nvPr/>
        </p:nvSpPr>
        <p:spPr>
          <a:xfrm>
            <a:off x="950976" y="4892040"/>
            <a:ext cx="3108960" cy="41148"/>
          </a:xfrm>
          <a:prstGeom prst="rect">
            <a:avLst/>
          </a:prstGeom>
          <a:solidFill>
            <a:srgbClr val="E8C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74920"/>
            <a:ext cx="10332720" cy="822960"/>
          </a:xfrm>
          <a:prstGeom prst="rect">
            <a:avLst/>
          </a:prstGeom>
          <a:noFill/>
        </p:spPr>
        <p:txBody>
          <a:bodyPr wrap="square">
            <a:spAutoFit/>
          </a:bodyPr>
          <a:lstStyle/>
          <a:p>
            <a:pPr algn="l">
              <a:spcBef>
                <a:spcPts val="0"/>
              </a:spcBef>
              <a:spcAft>
                <a:spcPts val="400"/>
              </a:spcAft>
            </a:pPr>
            <a:r>
              <a:rPr sz="1800" b="1" i="0">
                <a:solidFill>
                  <a:srgbClr val="F2F6F7"/>
                </a:solidFill>
                <a:latin typeface="Calibri"/>
              </a:rPr>
              <a:t>Ahmad Anasweh</a:t>
            </a:r>
          </a:p>
          <a:p>
            <a:pPr algn="l">
              <a:spcBef>
                <a:spcPts val="0"/>
              </a:spcBef>
              <a:spcAft>
                <a:spcPts val="400"/>
              </a:spcAft>
            </a:pPr>
            <a:r>
              <a:rPr sz="1200" b="0" i="0">
                <a:solidFill>
                  <a:srgbClr val="7C9298"/>
                </a:solidFill>
                <a:latin typeface="Calibri"/>
              </a:rPr>
              <a:t>Built on Volatility 2 / 3   ·   33,751 lines of Python   ·   69 modules</a:t>
            </a:r>
          </a:p>
        </p:txBody>
      </p:sp>
      <p:sp>
        <p:nvSpPr>
          <p:cNvPr id="9" name="TextBox 8"/>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WHY THIS MATTERS</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The evidence that only lives in memory</a:t>
            </a:r>
          </a:p>
        </p:txBody>
      </p:sp>
      <p:sp>
        <p:nvSpPr>
          <p:cNvPr id="6" name="TextBox 5"/>
          <p:cNvSpPr txBox="1"/>
          <p:nvPr/>
        </p:nvSpPr>
        <p:spPr>
          <a:xfrm>
            <a:off x="685800" y="1737360"/>
            <a:ext cx="10789920" cy="4206240"/>
          </a:xfrm>
          <a:prstGeom prst="rect">
            <a:avLst/>
          </a:prstGeom>
          <a:noFill/>
        </p:spPr>
        <p:txBody>
          <a:bodyPr wrap="square">
            <a:spAutoFit/>
          </a:bodyPr>
          <a:lstStyle/>
          <a:p>
            <a:pPr>
              <a:lnSpc>
                <a:spcPct val="105000"/>
              </a:lnSpc>
              <a:spcBef>
                <a:spcPts val="0"/>
              </a:spcBef>
              <a:spcAft>
                <a:spcPts val="1600"/>
              </a:spcAft>
            </a:pPr>
            <a:r>
              <a:rPr sz="1900" b="1">
                <a:solidFill>
                  <a:srgbClr val="2EC4B6"/>
                </a:solidFill>
                <a:latin typeface="Calibri"/>
              </a:rPr>
              <a:t>›  </a:t>
            </a:r>
            <a:r>
              <a:rPr sz="1900" b="1">
                <a:solidFill>
                  <a:srgbClr val="E8C06A"/>
                </a:solidFill>
                <a:latin typeface="Calibri"/>
              </a:rPr>
              <a:t>Memory is the crime scene.  </a:t>
            </a:r>
            <a:r>
              <a:rPr sz="1900">
                <a:solidFill>
                  <a:srgbClr val="F2F6F7"/>
                </a:solidFill>
                <a:latin typeface="Calibri"/>
              </a:rPr>
              <a:t>RAM holds the live state of a machine — running programs, network connections, typed commands, decrypted data.</a:t>
            </a:r>
          </a:p>
          <a:p>
            <a:pPr>
              <a:lnSpc>
                <a:spcPct val="105000"/>
              </a:lnSpc>
              <a:spcBef>
                <a:spcPts val="0"/>
              </a:spcBef>
              <a:spcAft>
                <a:spcPts val="1600"/>
              </a:spcAft>
            </a:pPr>
            <a:r>
              <a:rPr sz="1900" b="1">
                <a:solidFill>
                  <a:srgbClr val="2EC4B6"/>
                </a:solidFill>
                <a:latin typeface="Calibri"/>
              </a:rPr>
              <a:t>›  </a:t>
            </a:r>
            <a:r>
              <a:rPr sz="1900" b="1">
                <a:solidFill>
                  <a:srgbClr val="E8C06A"/>
                </a:solidFill>
                <a:latin typeface="Calibri"/>
              </a:rPr>
              <a:t>It disappears.  </a:t>
            </a:r>
            <a:r>
              <a:rPr sz="1900">
                <a:solidFill>
                  <a:srgbClr val="F2F6F7"/>
                </a:solidFill>
                <a:latin typeface="Calibri"/>
              </a:rPr>
              <a:t>Shut the machine down and it's gone forever. Much of it was never written to disk in the first place.</a:t>
            </a:r>
          </a:p>
          <a:p>
            <a:pPr>
              <a:lnSpc>
                <a:spcPct val="105000"/>
              </a:lnSpc>
              <a:spcBef>
                <a:spcPts val="0"/>
              </a:spcBef>
              <a:spcAft>
                <a:spcPts val="1600"/>
              </a:spcAft>
            </a:pPr>
            <a:r>
              <a:rPr sz="1900" b="1">
                <a:solidFill>
                  <a:srgbClr val="2EC4B6"/>
                </a:solidFill>
                <a:latin typeface="Calibri"/>
              </a:rPr>
              <a:t>›  </a:t>
            </a:r>
            <a:r>
              <a:rPr sz="1900" b="1">
                <a:solidFill>
                  <a:srgbClr val="E8C06A"/>
                </a:solidFill>
                <a:latin typeface="Calibri"/>
              </a:rPr>
              <a:t>Attackers exploit that.  </a:t>
            </a:r>
            <a:r>
              <a:rPr sz="1900">
                <a:solidFill>
                  <a:srgbClr val="F2F6F7"/>
                </a:solidFill>
                <a:latin typeface="Calibri"/>
              </a:rPr>
              <a:t>Fileless malware runs only in memory; secrets, tokens and keys are decrypted there; deleted chats can linger.</a:t>
            </a:r>
          </a:p>
          <a:p>
            <a:pPr>
              <a:lnSpc>
                <a:spcPct val="105000"/>
              </a:lnSpc>
              <a:spcBef>
                <a:spcPts val="0"/>
              </a:spcBef>
              <a:spcAft>
                <a:spcPts val="1600"/>
              </a:spcAft>
            </a:pPr>
            <a:r>
              <a:rPr sz="1900" b="1">
                <a:solidFill>
                  <a:srgbClr val="2EC4B6"/>
                </a:solidFill>
                <a:latin typeface="Calibri"/>
              </a:rPr>
              <a:t>›  </a:t>
            </a:r>
            <a:r>
              <a:rPr sz="1900" b="1">
                <a:solidFill>
                  <a:srgbClr val="E8C06A"/>
                </a:solidFill>
                <a:latin typeface="Calibri"/>
              </a:rPr>
              <a:t>But reading it is brutal.  </a:t>
            </a:r>
            <a:r>
              <a:rPr sz="1900">
                <a:solidFill>
                  <a:srgbClr val="F2F6F7"/>
                </a:solidFill>
                <a:latin typeface="Calibri"/>
              </a:rPr>
              <a:t>Manual memory forensics means a dozen tools, hundreds of commands, and every operating system is different.</a:t>
            </a:r>
          </a:p>
        </p:txBody>
      </p:sp>
      <p:sp>
        <p:nvSpPr>
          <p:cNvPr id="7" name="TextBox 6"/>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THE IDEA</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One command. One report.</a:t>
            </a:r>
          </a:p>
        </p:txBody>
      </p:sp>
      <p:sp>
        <p:nvSpPr>
          <p:cNvPr id="6" name="Rectangle 5"/>
          <p:cNvSpPr/>
          <p:nvPr/>
        </p:nvSpPr>
        <p:spPr>
          <a:xfrm>
            <a:off x="685800" y="1828800"/>
            <a:ext cx="1078992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l">
              <a:spcBef>
                <a:spcPts val="0"/>
              </a:spcBef>
              <a:spcAft>
                <a:spcPts val="600"/>
              </a:spcAft>
            </a:pPr>
            <a:r>
              <a:rPr sz="2200" b="1" i="0">
                <a:solidFill>
                  <a:srgbClr val="2EC4B6"/>
                </a:solidFill>
                <a:latin typeface="Calibri"/>
              </a:rPr>
              <a:t>python3 crescent_toolkit.py  full  -i  memory_snapshot.raw</a:t>
            </a:r>
          </a:p>
        </p:txBody>
      </p:sp>
      <p:sp>
        <p:nvSpPr>
          <p:cNvPr id="7" name="TextBox 6"/>
          <p:cNvSpPr txBox="1"/>
          <p:nvPr/>
        </p:nvSpPr>
        <p:spPr>
          <a:xfrm>
            <a:off x="685800" y="3520440"/>
            <a:ext cx="10789920" cy="2743200"/>
          </a:xfrm>
          <a:prstGeom prst="rect">
            <a:avLst/>
          </a:prstGeom>
          <a:noFill/>
        </p:spPr>
        <p:txBody>
          <a:bodyPr wrap="square">
            <a:spAutoFit/>
          </a:bodyPr>
          <a:lstStyle/>
          <a:p>
            <a:pPr>
              <a:lnSpc>
                <a:spcPct val="105000"/>
              </a:lnSpc>
              <a:spcBef>
                <a:spcPts val="0"/>
              </a:spcBef>
              <a:spcAft>
                <a:spcPts val="1300"/>
              </a:spcAft>
            </a:pPr>
            <a:r>
              <a:rPr sz="1800" b="1">
                <a:solidFill>
                  <a:srgbClr val="2EC4B6"/>
                </a:solidFill>
                <a:latin typeface="Calibri"/>
              </a:rPr>
              <a:t>✓  </a:t>
            </a:r>
            <a:r>
              <a:rPr sz="1800" b="1">
                <a:solidFill>
                  <a:srgbClr val="E8C06A"/>
                </a:solidFill>
                <a:latin typeface="Calibri"/>
              </a:rPr>
              <a:t>Auto-detects the OS  </a:t>
            </a:r>
            <a:r>
              <a:rPr sz="1800">
                <a:solidFill>
                  <a:srgbClr val="F2F6F7"/>
                </a:solidFill>
                <a:latin typeface="Calibri"/>
              </a:rPr>
              <a:t>then picks the right Volatility engine and plugin set.</a:t>
            </a:r>
          </a:p>
          <a:p>
            <a:pPr>
              <a:lnSpc>
                <a:spcPct val="105000"/>
              </a:lnSpc>
              <a:spcBef>
                <a:spcPts val="0"/>
              </a:spcBef>
              <a:spcAft>
                <a:spcPts val="1300"/>
              </a:spcAft>
            </a:pPr>
            <a:r>
              <a:rPr sz="1800" b="1">
                <a:solidFill>
                  <a:srgbClr val="2EC4B6"/>
                </a:solidFill>
                <a:latin typeface="Calibri"/>
              </a:rPr>
              <a:t>✓  </a:t>
            </a:r>
            <a:r>
              <a:rPr sz="1800" b="1">
                <a:solidFill>
                  <a:srgbClr val="E8C06A"/>
                </a:solidFill>
                <a:latin typeface="Calibri"/>
              </a:rPr>
              <a:t>Downloads what it needs  </a:t>
            </a:r>
            <a:r>
              <a:rPr sz="1800">
                <a:solidFill>
                  <a:srgbClr val="F2F6F7"/>
                </a:solidFill>
                <a:latin typeface="Calibri"/>
              </a:rPr>
              <a:t>Linux/macOS symbols are resolved, patched, or even built on the fly.</a:t>
            </a:r>
          </a:p>
          <a:p>
            <a:pPr>
              <a:lnSpc>
                <a:spcPct val="105000"/>
              </a:lnSpc>
              <a:spcBef>
                <a:spcPts val="0"/>
              </a:spcBef>
              <a:spcAft>
                <a:spcPts val="1300"/>
              </a:spcAft>
            </a:pPr>
            <a:r>
              <a:rPr sz="1800" b="1">
                <a:solidFill>
                  <a:srgbClr val="2EC4B6"/>
                </a:solidFill>
                <a:latin typeface="Calibri"/>
              </a:rPr>
              <a:t>✓  </a:t>
            </a:r>
            <a:r>
              <a:rPr sz="1800" b="1">
                <a:solidFill>
                  <a:srgbClr val="E8C06A"/>
                </a:solidFill>
                <a:latin typeface="Calibri"/>
              </a:rPr>
              <a:t>Runs everything in parallel  </a:t>
            </a:r>
            <a:r>
              <a:rPr sz="1800">
                <a:solidFill>
                  <a:srgbClr val="F2F6F7"/>
                </a:solidFill>
                <a:latin typeface="Calibri"/>
              </a:rPr>
              <a:t>and correlates the results into one story.</a:t>
            </a:r>
          </a:p>
          <a:p>
            <a:pPr>
              <a:lnSpc>
                <a:spcPct val="105000"/>
              </a:lnSpc>
              <a:spcBef>
                <a:spcPts val="0"/>
              </a:spcBef>
              <a:spcAft>
                <a:spcPts val="1300"/>
              </a:spcAft>
            </a:pPr>
            <a:r>
              <a:rPr sz="1800" b="1">
                <a:solidFill>
                  <a:srgbClr val="2EC4B6"/>
                </a:solidFill>
                <a:latin typeface="Calibri"/>
              </a:rPr>
              <a:t>✓  </a:t>
            </a:r>
            <a:r>
              <a:rPr sz="1800" b="1">
                <a:solidFill>
                  <a:srgbClr val="E8C06A"/>
                </a:solidFill>
                <a:latin typeface="Calibri"/>
              </a:rPr>
              <a:t>Hands you one interactive report  </a:t>
            </a:r>
            <a:r>
              <a:rPr sz="1800">
                <a:solidFill>
                  <a:srgbClr val="F2F6F7"/>
                </a:solidFill>
                <a:latin typeface="Calibri"/>
              </a:rPr>
              <a:t>a self-contained report.html you open in any browser — offline.</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CAPABILITIES</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The questions it answers for you</a:t>
            </a:r>
          </a:p>
        </p:txBody>
      </p:sp>
      <p:sp>
        <p:nvSpPr>
          <p:cNvPr id="6" name="TextBox 5"/>
          <p:cNvSpPr txBox="1"/>
          <p:nvPr/>
        </p:nvSpPr>
        <p:spPr>
          <a:xfrm>
            <a:off x="685800" y="1783080"/>
            <a:ext cx="5212080" cy="4206240"/>
          </a:xfrm>
          <a:prstGeom prst="rect">
            <a:avLst/>
          </a:prstGeom>
          <a:noFill/>
        </p:spPr>
        <p:txBody>
          <a:bodyPr wrap="square">
            <a:spAutoFit/>
          </a:bodyPr>
          <a:lstStyle/>
          <a:p>
            <a:pPr>
              <a:spcAft>
                <a:spcPts val="1400"/>
              </a:spcAft>
            </a:pPr>
            <a:r>
              <a:rPr b="1" sz="1800">
                <a:solidFill>
                  <a:srgbClr val="E8C06A"/>
                </a:solidFill>
                <a:latin typeface="Calibri"/>
              </a:rPr>
              <a:t>What ran?  </a:t>
            </a:r>
            <a:r>
              <a:rPr sz="1500">
                <a:solidFill>
                  <a:srgbClr val="A9BABE"/>
                </a:solidFill>
                <a:latin typeface="Calibri"/>
              </a:rPr>
              <a:t>every active program, and which look out of place</a:t>
            </a:r>
          </a:p>
          <a:p>
            <a:pPr>
              <a:spcAft>
                <a:spcPts val="1400"/>
              </a:spcAft>
            </a:pPr>
            <a:r>
              <a:rPr b="1" sz="1800">
                <a:solidFill>
                  <a:srgbClr val="E8C06A"/>
                </a:solidFill>
                <a:latin typeface="Calibri"/>
              </a:rPr>
              <a:t>Who did it talk to?  </a:t>
            </a:r>
            <a:r>
              <a:rPr sz="1500">
                <a:solidFill>
                  <a:srgbClr val="A9BABE"/>
                </a:solidFill>
                <a:latin typeface="Calibri"/>
              </a:rPr>
              <a:t>connections + external IPs, reverse-DNS</a:t>
            </a:r>
          </a:p>
          <a:p>
            <a:pPr>
              <a:spcAft>
                <a:spcPts val="1400"/>
              </a:spcAft>
            </a:pPr>
            <a:r>
              <a:rPr b="1" sz="1800">
                <a:solidFill>
                  <a:srgbClr val="E8C06A"/>
                </a:solidFill>
                <a:latin typeface="Calibri"/>
              </a:rPr>
              <a:t>Malware?  </a:t>
            </a:r>
            <a:r>
              <a:rPr sz="1500">
                <a:solidFill>
                  <a:srgbClr val="A9BABE"/>
                </a:solidFill>
                <a:latin typeface="Calibri"/>
              </a:rPr>
              <a:t>hidden/injected code, attacker tools</a:t>
            </a:r>
          </a:p>
          <a:p>
            <a:pPr>
              <a:spcAft>
                <a:spcPts val="1400"/>
              </a:spcAft>
            </a:pPr>
            <a:r>
              <a:rPr b="1" sz="1800">
                <a:solidFill>
                  <a:srgbClr val="E8C06A"/>
                </a:solidFill>
                <a:latin typeface="Calibri"/>
              </a:rPr>
              <a:t>What was typed?  </a:t>
            </a:r>
            <a:r>
              <a:rPr sz="1500">
                <a:solidFill>
                  <a:srgbClr val="A9BABE"/>
                </a:solidFill>
                <a:latin typeface="Calibri"/>
              </a:rPr>
              <a:t>console commands + LOLBin tricks</a:t>
            </a:r>
          </a:p>
          <a:p>
            <a:pPr/>
            <a:r>
              <a:rPr sz="1800" b="1">
                <a:solidFill>
                  <a:srgbClr val="E8C06A"/>
                </a:solidFill>
                <a:latin typeface="Calibri"/>
              </a:rPr>
              <a:t>What was in memory?  VAD region dumps recover a process's live content and injected code — not just the .exe.</a:t>
            </a:r>
          </a:p>
          <a:p>
            <a:pPr/>
            <a:r>
              <a:rPr sz="1800" b="1">
                <a:solidFill>
                  <a:srgbClr val="E8C06A"/>
                </a:solidFill>
                <a:latin typeface="Calibri"/>
              </a:rPr>
              <a:t>Was code injected?  Correlates malfind with the module list to flag fileless injection (HIGH/MEDIUM/LOW).</a:t>
            </a:r>
          </a:p>
        </p:txBody>
      </p:sp>
      <p:sp>
        <p:nvSpPr>
          <p:cNvPr id="7" name="TextBox 6"/>
          <p:cNvSpPr txBox="1"/>
          <p:nvPr/>
        </p:nvSpPr>
        <p:spPr>
          <a:xfrm>
            <a:off x="6309360" y="1783080"/>
            <a:ext cx="5212080" cy="4206240"/>
          </a:xfrm>
          <a:prstGeom prst="rect">
            <a:avLst/>
          </a:prstGeom>
          <a:noFill/>
        </p:spPr>
        <p:txBody>
          <a:bodyPr wrap="square">
            <a:spAutoFit/>
          </a:bodyPr>
          <a:lstStyle/>
          <a:p>
            <a:pPr>
              <a:spcAft>
                <a:spcPts val="1400"/>
              </a:spcAft>
            </a:pPr>
            <a:r>
              <a:rPr b="1" sz="1800">
                <a:solidFill>
                  <a:srgbClr val="E8C06A"/>
                </a:solidFill>
                <a:latin typeface="Calibri"/>
              </a:rPr>
              <a:t>Who communicated?  </a:t>
            </a:r>
            <a:r>
              <a:rPr sz="1500">
                <a:solidFill>
                  <a:srgbClr val="A9BABE"/>
                </a:solidFill>
                <a:latin typeface="Calibri"/>
              </a:rPr>
              <a:t>Teams, Discord, Zoom, Slack, Signal…</a:t>
            </a:r>
          </a:p>
          <a:p>
            <a:pPr>
              <a:spcAft>
                <a:spcPts val="1400"/>
              </a:spcAft>
            </a:pPr>
            <a:r>
              <a:rPr b="1" sz="1800">
                <a:solidFill>
                  <a:srgbClr val="E8C06A"/>
                </a:solidFill>
                <a:latin typeface="Calibri"/>
              </a:rPr>
              <a:t>What was browsed?  </a:t>
            </a:r>
            <a:r>
              <a:rPr sz="1500">
                <a:solidFill>
                  <a:srgbClr val="A9BABE"/>
                </a:solidFill>
                <a:latin typeface="Calibri"/>
              </a:rPr>
              <a:t>URLs, searches, downloads</a:t>
            </a:r>
          </a:p>
          <a:p>
            <a:pPr>
              <a:spcAft>
                <a:spcPts val="1400"/>
              </a:spcAft>
            </a:pPr>
            <a:r>
              <a:rPr b="1" sz="1800">
                <a:solidFill>
                  <a:srgbClr val="E8C06A"/>
                </a:solidFill>
                <a:latin typeface="Calibri"/>
              </a:rPr>
              <a:t>How did it persist?  </a:t>
            </a:r>
            <a:r>
              <a:rPr sz="1500">
                <a:solidFill>
                  <a:srgbClr val="A9BABE"/>
                </a:solidFill>
                <a:latin typeface="Calibri"/>
              </a:rPr>
              <a:t>cron · launchd · scheduled tasks · registry</a:t>
            </a:r>
          </a:p>
          <a:p>
            <a:pPr>
              <a:spcAft>
                <a:spcPts val="1400"/>
              </a:spcAft>
            </a:pPr>
            <a:r>
              <a:rPr b="1" sz="1800">
                <a:solidFill>
                  <a:srgbClr val="E8C06A"/>
                </a:solidFill>
                <a:latin typeface="Calibri"/>
              </a:rPr>
              <a:t>When?  </a:t>
            </a:r>
            <a:r>
              <a:rPr sz="1500">
                <a:solidFill>
                  <a:srgbClr val="A9BABE"/>
                </a:solidFill>
                <a:latin typeface="Calibri"/>
              </a:rPr>
              <a:t>one merged timeline + MITRE ATT&amp;CK</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COVERAGE</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One tool, three operating systems</a:t>
            </a:r>
          </a:p>
        </p:txBody>
      </p:sp>
      <p:sp>
        <p:nvSpPr>
          <p:cNvPr id="6" name="Rectangle 5"/>
          <p:cNvSpPr/>
          <p:nvPr/>
        </p:nvSpPr>
        <p:spPr>
          <a:xfrm>
            <a:off x="685800" y="1965960"/>
            <a:ext cx="3429000" cy="292608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20040"/>
          <a:lstStyle/>
          <a:p>
            <a:pPr algn="ctr">
              <a:spcBef>
                <a:spcPts val="0"/>
              </a:spcBef>
              <a:spcAft>
                <a:spcPts val="1000"/>
              </a:spcAft>
            </a:pPr>
            <a:r>
              <a:rPr sz="2400" b="1" i="0">
                <a:solidFill>
                  <a:srgbClr val="2EC4B6"/>
                </a:solidFill>
                <a:latin typeface="Calibri"/>
              </a:rPr>
              <a:t>WINDOWS</a:t>
            </a:r>
          </a:p>
          <a:p>
            <a:pPr algn="ctr">
              <a:spcBef>
                <a:spcPts val="0"/>
              </a:spcBef>
              <a:spcAft>
                <a:spcPts val="1000"/>
              </a:spcAft>
            </a:pPr>
            <a:r>
              <a:rPr sz="800" b="0" i="0">
                <a:solidFill>
                  <a:srgbClr val="F2F6F7"/>
                </a:solidFill>
                <a:latin typeface="Calibri"/>
              </a:rPr>
              <a:t/>
            </a:r>
          </a:p>
          <a:p>
            <a:pPr algn="ctr">
              <a:spcBef>
                <a:spcPts val="0"/>
              </a:spcBef>
              <a:spcAft>
                <a:spcPts val="1000"/>
              </a:spcAft>
            </a:pPr>
            <a:r>
              <a:rPr sz="1400" b="0" i="0">
                <a:solidFill>
                  <a:srgbClr val="A9BABE"/>
                </a:solidFill>
                <a:latin typeface="Calibri"/>
              </a:rPr>
              <a:t>pslist · netscan · malfind · registry · EVTX · hashdump</a:t>
            </a:r>
          </a:p>
        </p:txBody>
      </p:sp>
      <p:sp>
        <p:nvSpPr>
          <p:cNvPr id="7" name="Rectangle 6"/>
          <p:cNvSpPr/>
          <p:nvPr/>
        </p:nvSpPr>
        <p:spPr>
          <a:xfrm>
            <a:off x="4370832" y="1965960"/>
            <a:ext cx="3429000" cy="292608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20040"/>
          <a:lstStyle/>
          <a:p>
            <a:pPr algn="ctr">
              <a:spcBef>
                <a:spcPts val="0"/>
              </a:spcBef>
              <a:spcAft>
                <a:spcPts val="1000"/>
              </a:spcAft>
            </a:pPr>
            <a:r>
              <a:rPr sz="2400" b="1" i="0">
                <a:solidFill>
                  <a:srgbClr val="2EC4B6"/>
                </a:solidFill>
                <a:latin typeface="Calibri"/>
              </a:rPr>
              <a:t>LINUX</a:t>
            </a:r>
          </a:p>
          <a:p>
            <a:pPr algn="ctr">
              <a:spcBef>
                <a:spcPts val="0"/>
              </a:spcBef>
              <a:spcAft>
                <a:spcPts val="1000"/>
              </a:spcAft>
            </a:pPr>
            <a:r>
              <a:rPr sz="800" b="0" i="0">
                <a:solidFill>
                  <a:srgbClr val="F2F6F7"/>
                </a:solidFill>
                <a:latin typeface="Calibri"/>
              </a:rPr>
              <a:t/>
            </a:r>
          </a:p>
          <a:p>
            <a:pPr algn="ctr">
              <a:spcBef>
                <a:spcPts val="0"/>
              </a:spcBef>
              <a:spcAft>
                <a:spcPts val="1000"/>
              </a:spcAft>
            </a:pPr>
            <a:r>
              <a:rPr sz="1400" b="0" i="0">
                <a:solidFill>
                  <a:srgbClr val="A9BABE"/>
                </a:solidFill>
                <a:latin typeface="Calibri"/>
              </a:rPr>
              <a:t>psaux · bash · lsof · sockstat · pagecache · cron</a:t>
            </a:r>
          </a:p>
        </p:txBody>
      </p:sp>
      <p:sp>
        <p:nvSpPr>
          <p:cNvPr id="8" name="Rectangle 7"/>
          <p:cNvSpPr/>
          <p:nvPr/>
        </p:nvSpPr>
        <p:spPr>
          <a:xfrm>
            <a:off x="8055864" y="1965960"/>
            <a:ext cx="3429000" cy="292608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20040"/>
          <a:lstStyle/>
          <a:p>
            <a:pPr algn="ctr">
              <a:spcBef>
                <a:spcPts val="0"/>
              </a:spcBef>
              <a:spcAft>
                <a:spcPts val="1000"/>
              </a:spcAft>
            </a:pPr>
            <a:r>
              <a:rPr sz="2400" b="1" i="0">
                <a:solidFill>
                  <a:srgbClr val="2EC4B6"/>
                </a:solidFill>
                <a:latin typeface="Calibri"/>
              </a:rPr>
              <a:t>macOS</a:t>
            </a:r>
          </a:p>
          <a:p>
            <a:pPr algn="ctr">
              <a:spcBef>
                <a:spcPts val="0"/>
              </a:spcBef>
              <a:spcAft>
                <a:spcPts val="1000"/>
              </a:spcAft>
            </a:pPr>
            <a:r>
              <a:rPr sz="800" b="0" i="0">
                <a:solidFill>
                  <a:srgbClr val="F2F6F7"/>
                </a:solidFill>
                <a:latin typeface="Calibri"/>
              </a:rPr>
              <a:t/>
            </a:r>
          </a:p>
          <a:p>
            <a:pPr algn="ctr">
              <a:spcBef>
                <a:spcPts val="0"/>
              </a:spcBef>
              <a:spcAft>
                <a:spcPts val="1000"/>
              </a:spcAft>
            </a:pPr>
            <a:r>
              <a:rPr sz="1400" b="0" i="0">
                <a:solidFill>
                  <a:srgbClr val="A9BABE"/>
                </a:solidFill>
                <a:latin typeface="Calibri"/>
              </a:rPr>
              <a:t>pslist · netstat · list_files · pagecache · launchd</a:t>
            </a:r>
          </a:p>
        </p:txBody>
      </p:sp>
      <p:sp>
        <p:nvSpPr>
          <p:cNvPr id="9" name="TextBox 8"/>
          <p:cNvSpPr txBox="1"/>
          <p:nvPr/>
        </p:nvSpPr>
        <p:spPr>
          <a:xfrm>
            <a:off x="685800" y="5212080"/>
            <a:ext cx="10789920" cy="1097280"/>
          </a:xfrm>
          <a:prstGeom prst="rect">
            <a:avLst/>
          </a:prstGeom>
          <a:noFill/>
        </p:spPr>
        <p:txBody>
          <a:bodyPr wrap="square">
            <a:spAutoFit/>
          </a:bodyPr>
          <a:lstStyle/>
          <a:p>
            <a:pPr algn="l">
              <a:spcBef>
                <a:spcPts val="0"/>
              </a:spcBef>
              <a:spcAft>
                <a:spcPts val="600"/>
              </a:spcAft>
            </a:pPr>
            <a:r>
              <a:rPr sz="1500" b="0" i="1">
                <a:solidFill>
                  <a:srgbClr val="7C9298"/>
                </a:solidFill>
                <a:latin typeface="Calibri"/>
              </a:rPr>
              <a:t>Same codebase. v6 splits every multi-OS module into per-OS files (extractor.windows / .linux / .mac) behind a thin runtime dispatcher — clean ownership, no cross-OS if/elif spaghetti.</a:t>
            </a:r>
          </a:p>
        </p:txBody>
      </p:sp>
      <p:sp>
        <p:nvSpPr>
          <p:cNvPr id="10" name="TextBox 9"/>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UNDER THE HOOD</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The 8-step pipeline</a:t>
            </a:r>
          </a:p>
        </p:txBody>
      </p:sp>
      <p:sp>
        <p:nvSpPr>
          <p:cNvPr id="6" name="TextBox 5"/>
          <p:cNvSpPr txBox="1"/>
          <p:nvPr/>
        </p:nvSpPr>
        <p:spPr>
          <a:xfrm>
            <a:off x="685800" y="1783080"/>
            <a:ext cx="10881360" cy="4297680"/>
          </a:xfrm>
          <a:prstGeom prst="rect">
            <a:avLst/>
          </a:prstGeom>
          <a:noFill/>
        </p:spPr>
        <p:txBody>
          <a:bodyPr wrap="square">
            <a:spAutoFit/>
          </a:bodyPr>
          <a:lstStyle/>
          <a:p>
            <a:pPr>
              <a:spcAft>
                <a:spcPts val="1100"/>
              </a:spcAft>
            </a:pPr>
            <a:r>
              <a:rPr b="1" sz="1900">
                <a:solidFill>
                  <a:srgbClr val="2EC4B6"/>
                </a:solidFill>
                <a:latin typeface="Consolas"/>
              </a:rPr>
              <a:t>1  Extract   </a:t>
            </a:r>
            <a:r>
              <a:rPr sz="1700">
                <a:solidFill>
                  <a:srgbClr val="F2F6F7"/>
                </a:solidFill>
                <a:latin typeface="Calibri"/>
              </a:rPr>
              <a:t>right Vol plugins, in parallel → JSON</a:t>
            </a:r>
          </a:p>
          <a:p>
            <a:pPr>
              <a:spcAft>
                <a:spcPts val="1100"/>
              </a:spcAft>
            </a:pPr>
            <a:r>
              <a:rPr b="1" sz="1900">
                <a:solidFill>
                  <a:srgbClr val="2EC4B6"/>
                </a:solidFill>
                <a:latin typeface="Consolas"/>
              </a:rPr>
              <a:t>2  Strings scan   </a:t>
            </a:r>
            <a:r>
              <a:rPr sz="1700">
                <a:solidFill>
                  <a:srgbClr val="F2F6F7"/>
                </a:solidFill>
                <a:latin typeface="Calibri"/>
              </a:rPr>
              <a:t>IOCs · browser · chat apps (single pass)</a:t>
            </a:r>
          </a:p>
          <a:p>
            <a:pPr>
              <a:spcAft>
                <a:spcPts val="1100"/>
              </a:spcAft>
            </a:pPr>
            <a:r>
              <a:rPr b="1" sz="1900">
                <a:solidFill>
                  <a:srgbClr val="2EC4B6"/>
                </a:solidFill>
                <a:latin typeface="Consolas"/>
              </a:rPr>
              <a:t>3  Rebuild   </a:t>
            </a:r>
            <a:r>
              <a:rPr sz="1700">
                <a:solidFill>
                  <a:srgbClr val="F2F6F7"/>
                </a:solidFill>
                <a:latin typeface="Calibri"/>
              </a:rPr>
              <a:t>process tree + network map</a:t>
            </a:r>
          </a:p>
          <a:p>
            <a:pPr>
              <a:spcAft>
                <a:spcPts val="1100"/>
              </a:spcAft>
            </a:pPr>
            <a:r>
              <a:rPr b="1" sz="1900">
                <a:solidFill>
                  <a:srgbClr val="2EC4B6"/>
                </a:solidFill>
                <a:latin typeface="Consolas"/>
              </a:rPr>
              <a:t>4  Analyze   </a:t>
            </a:r>
            <a:r>
              <a:rPr sz="1700">
                <a:solidFill>
                  <a:srgbClr val="F2F6F7"/>
                </a:solidFill>
                <a:latin typeface="Calibri"/>
              </a:rPr>
              <a:t>suspicious procs · commands · MITRE</a:t>
            </a:r>
          </a:p>
          <a:p>
            <a:pPr>
              <a:spcAft>
                <a:spcPts val="1100"/>
              </a:spcAft>
            </a:pPr>
            <a:r>
              <a:rPr b="1" sz="1900">
                <a:solidFill>
                  <a:srgbClr val="2EC4B6"/>
                </a:solidFill>
                <a:latin typeface="Consolas"/>
              </a:rPr>
              <a:t>5  Correlate   </a:t>
            </a:r>
            <a:r>
              <a:rPr sz="1700">
                <a:solidFill>
                  <a:srgbClr val="F2F6F7"/>
                </a:solidFill>
                <a:latin typeface="Calibri"/>
              </a:rPr>
              <a:t>procs ↔ network ↔ files ↔ commands</a:t>
            </a:r>
          </a:p>
          <a:p>
            <a:pPr>
              <a:spcAft>
                <a:spcPts val="1100"/>
              </a:spcAft>
            </a:pPr>
            <a:r>
              <a:rPr b="1" sz="1900">
                <a:solidFill>
                  <a:srgbClr val="2EC4B6"/>
                </a:solidFill>
                <a:latin typeface="Consolas"/>
              </a:rPr>
              <a:t>5b Persistence   </a:t>
            </a:r>
            <a:r>
              <a:rPr sz="1700">
                <a:solidFill>
                  <a:srgbClr val="F2F6F7"/>
                </a:solidFill>
                <a:latin typeface="Calibri"/>
              </a:rPr>
              <a:t>popular files + scheduled tasks</a:t>
            </a:r>
          </a:p>
          <a:p>
            <a:pPr>
              <a:spcAft>
                <a:spcPts val="1100"/>
              </a:spcAft>
            </a:pPr>
            <a:r>
              <a:rPr b="1" sz="1900">
                <a:solidFill>
                  <a:srgbClr val="2EC4B6"/>
                </a:solidFill>
                <a:latin typeface="Consolas"/>
              </a:rPr>
              <a:t>6  Registry   </a:t>
            </a:r>
            <a:r>
              <a:rPr sz="1700">
                <a:solidFill>
                  <a:srgbClr val="F2F6F7"/>
                </a:solidFill>
                <a:latin typeface="Calibri"/>
              </a:rPr>
              <a:t>Windows hive &amp; persistence analysis</a:t>
            </a:r>
          </a:p>
          <a:p>
            <a:pPr>
              <a:spcAft>
                <a:spcPts val="1100"/>
              </a:spcAft>
            </a:pPr>
            <a:r>
              <a:rPr b="1" sz="1900">
                <a:solidFill>
                  <a:srgbClr val="2EC4B6"/>
                </a:solidFill>
                <a:latin typeface="Consolas"/>
              </a:rPr>
              <a:t>7 · 8  Timeline + Report   </a:t>
            </a:r>
            <a:r>
              <a:rPr sz="1700">
                <a:solidFill>
                  <a:srgbClr val="F2F6F7"/>
                </a:solidFill>
                <a:latin typeface="Calibri"/>
              </a:rPr>
              <a:t>merge every event → interactive HTML</a:t>
            </a:r>
          </a:p>
        </p:txBody>
      </p:sp>
      <p:sp>
        <p:nvSpPr>
          <p:cNvPr id="7" name="TextBox 6"/>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THE HARD PROBLEM, SOLVED</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Automatic symbol resolution (Linux/macOS)</a:t>
            </a:r>
          </a:p>
        </p:txBody>
      </p:sp>
      <p:sp>
        <p:nvSpPr>
          <p:cNvPr id="6" name="TextBox 5"/>
          <p:cNvSpPr txBox="1"/>
          <p:nvPr/>
        </p:nvSpPr>
        <p:spPr>
          <a:xfrm>
            <a:off x="685800" y="1691640"/>
            <a:ext cx="10789920" cy="822960"/>
          </a:xfrm>
          <a:prstGeom prst="rect">
            <a:avLst/>
          </a:prstGeom>
          <a:noFill/>
        </p:spPr>
        <p:txBody>
          <a:bodyPr wrap="square">
            <a:spAutoFit/>
          </a:bodyPr>
          <a:lstStyle/>
          <a:p>
            <a:pPr algn="l">
              <a:spcBef>
                <a:spcPts val="0"/>
              </a:spcBef>
              <a:spcAft>
                <a:spcPts val="600"/>
              </a:spcAft>
            </a:pPr>
            <a:r>
              <a:rPr sz="1600" b="0" i="1">
                <a:solidFill>
                  <a:srgbClr val="A9BABE"/>
                </a:solidFill>
                <a:latin typeface="Calibri"/>
              </a:rPr>
              <a:t>Volatility 3 needs an ISF file that exactly matches the target kernel. Finding it is the classic pain of Linux memory forensics. RAMBreaker automates the whole chain:</a:t>
            </a:r>
          </a:p>
        </p:txBody>
      </p:sp>
      <p:sp>
        <p:nvSpPr>
          <p:cNvPr id="7" name="TextBox 6"/>
          <p:cNvSpPr txBox="1"/>
          <p:nvPr/>
        </p:nvSpPr>
        <p:spPr>
          <a:xfrm>
            <a:off x="685800" y="2743200"/>
            <a:ext cx="10789920" cy="3291840"/>
          </a:xfrm>
          <a:prstGeom prst="rect">
            <a:avLst/>
          </a:prstGeom>
          <a:noFill/>
        </p:spPr>
        <p:txBody>
          <a:bodyPr wrap="square">
            <a:spAutoFit/>
          </a:bodyPr>
          <a:lstStyle/>
          <a:p>
            <a:pPr>
              <a:lnSpc>
                <a:spcPct val="105000"/>
              </a:lnSpc>
              <a:spcBef>
                <a:spcPts val="0"/>
              </a:spcBef>
              <a:spcAft>
                <a:spcPts val="1200"/>
              </a:spcAft>
            </a:pPr>
            <a:r>
              <a:rPr sz="1700" b="1">
                <a:solidFill>
                  <a:srgbClr val="2EC4B6"/>
                </a:solidFill>
                <a:latin typeface="Calibri"/>
              </a:rPr>
              <a:t>→  </a:t>
            </a:r>
            <a:r>
              <a:rPr sz="1700" b="1">
                <a:solidFill>
                  <a:srgbClr val="E8C06A"/>
                </a:solidFill>
                <a:latin typeface="Calibri"/>
              </a:rPr>
              <a:t>Detect  </a:t>
            </a:r>
            <a:r>
              <a:rPr sz="1700">
                <a:solidFill>
                  <a:srgbClr val="F2F6F7"/>
                </a:solidFill>
                <a:latin typeface="Calibri"/>
              </a:rPr>
              <a:t>reads the kernel banner straight from the image.</a:t>
            </a:r>
          </a:p>
          <a:p>
            <a:pPr>
              <a:lnSpc>
                <a:spcPct val="105000"/>
              </a:lnSpc>
              <a:spcBef>
                <a:spcPts val="0"/>
              </a:spcBef>
              <a:spcAft>
                <a:spcPts val="1200"/>
              </a:spcAft>
            </a:pPr>
            <a:r>
              <a:rPr sz="1700" b="1">
                <a:solidFill>
                  <a:srgbClr val="2EC4B6"/>
                </a:solidFill>
                <a:latin typeface="Calibri"/>
              </a:rPr>
              <a:t>→  </a:t>
            </a:r>
            <a:r>
              <a:rPr sz="1700" b="1">
                <a:solidFill>
                  <a:srgbClr val="E8C06A"/>
                </a:solidFill>
                <a:latin typeface="Calibri"/>
              </a:rPr>
              <a:t>Download  </a:t>
            </a:r>
            <a:r>
              <a:rPr sz="1700">
                <a:solidFill>
                  <a:srgbClr val="F2F6F7"/>
                </a:solidFill>
                <a:latin typeface="Calibri"/>
              </a:rPr>
              <a:t>fetches the matching ISF from the community repo, with a CDN mirror fallback.</a:t>
            </a:r>
          </a:p>
          <a:p>
            <a:pPr>
              <a:lnSpc>
                <a:spcPct val="105000"/>
              </a:lnSpc>
              <a:spcBef>
                <a:spcPts val="0"/>
              </a:spcBef>
              <a:spcAft>
                <a:spcPts val="1200"/>
              </a:spcAft>
            </a:pPr>
            <a:r>
              <a:rPr sz="1700" b="1">
                <a:solidFill>
                  <a:srgbClr val="2EC4B6"/>
                </a:solidFill>
                <a:latin typeface="Calibri"/>
              </a:rPr>
              <a:t>→  </a:t>
            </a:r>
            <a:r>
              <a:rPr sz="1700" b="1">
                <a:solidFill>
                  <a:srgbClr val="E8C06A"/>
                </a:solidFill>
                <a:latin typeface="Calibri"/>
              </a:rPr>
              <a:t>Patch  </a:t>
            </a:r>
            <a:r>
              <a:rPr sz="1700">
                <a:solidFill>
                  <a:srgbClr val="F2F6F7"/>
                </a:solidFill>
                <a:latin typeface="Calibri"/>
              </a:rPr>
              <a:t>if only a close kernel exists, it byte-rewrites the banner to match, then re-verifies.</a:t>
            </a:r>
          </a:p>
          <a:p>
            <a:pPr>
              <a:lnSpc>
                <a:spcPct val="105000"/>
              </a:lnSpc>
              <a:spcBef>
                <a:spcPts val="0"/>
              </a:spcBef>
              <a:spcAft>
                <a:spcPts val="1200"/>
              </a:spcAft>
            </a:pPr>
            <a:r>
              <a:rPr sz="1700" b="1">
                <a:solidFill>
                  <a:srgbClr val="2EC4B6"/>
                </a:solidFill>
                <a:latin typeface="Calibri"/>
              </a:rPr>
              <a:t>→  </a:t>
            </a:r>
            <a:r>
              <a:rPr sz="1700" b="1">
                <a:solidFill>
                  <a:srgbClr val="E8C06A"/>
                </a:solidFill>
                <a:latin typeface="Calibri"/>
              </a:rPr>
              <a:t>Build from the image  </a:t>
            </a:r>
            <a:r>
              <a:rPr sz="1700">
                <a:solidFill>
                  <a:srgbClr val="F2F6F7"/>
                </a:solidFill>
                <a:latin typeface="Calibri"/>
              </a:rPr>
              <a:t>if nothing is published anywhere it rebuilds the ISF from the BTF inside the image — offline, exact, no download. Failing that, from debug packages (Debian ddeb / RHEL RPM) via dwarf2json.</a:t>
            </a:r>
          </a:p>
          <a:p>
            <a:pPr>
              <a:lnSpc>
                <a:spcPct val="105000"/>
              </a:lnSpc>
              <a:spcBef>
                <a:spcPts val="0"/>
              </a:spcBef>
              <a:spcAft>
                <a:spcPts val="1200"/>
              </a:spcAft>
            </a:pPr>
            <a:r>
              <a:rPr sz="1700" b="1">
                <a:solidFill>
                  <a:srgbClr val="2EC4B6"/>
                </a:solidFill>
                <a:latin typeface="Calibri"/>
              </a:rPr>
              <a:t>→  </a:t>
            </a:r>
            <a:r>
              <a:rPr sz="1700" b="1">
                <a:solidFill>
                  <a:srgbClr val="E8C06A"/>
                </a:solidFill>
                <a:latin typeface="Calibri"/>
              </a:rPr>
              <a:t>Verify  </a:t>
            </a:r>
            <a:r>
              <a:rPr sz="1700">
                <a:solidFill>
                  <a:srgbClr val="F2F6F7"/>
                </a:solidFill>
                <a:latin typeface="Calibri"/>
              </a:rPr>
              <a:t>confirms symbols actually work via psscan — so a correct ISF is never falsely rejected.</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THE DELIVERABLE</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One self-contained interactive report</a:t>
            </a:r>
          </a:p>
        </p:txBody>
      </p:sp>
      <p:sp>
        <p:nvSpPr>
          <p:cNvPr id="17" name="TextBox 16"/>
          <p:cNvSpPr txBox="1"/>
          <p:nvPr/>
        </p:nvSpPr>
        <p:spPr>
          <a:xfrm>
            <a:off x="685800" y="4114800"/>
            <a:ext cx="10789920" cy="2011680"/>
          </a:xfrm>
          <a:prstGeom prst="rect">
            <a:avLst/>
          </a:prstGeom>
          <a:noFill/>
        </p:spPr>
        <p:txBody>
          <a:bodyPr wrap="square">
            <a:spAutoFit/>
          </a:bodyPr>
          <a:lstStyle/>
          <a:p>
            <a:pPr>
              <a:lnSpc>
                <a:spcPct val="105000"/>
              </a:lnSpc>
              <a:spcBef>
                <a:spcPts val="0"/>
              </a:spcBef>
              <a:spcAft>
                <a:spcPts val="1100"/>
              </a:spcAft>
            </a:pPr>
            <a:r>
              <a:rPr sz="1600" b="1">
                <a:solidFill>
                  <a:srgbClr val="2EC4B6"/>
                </a:solidFill>
                <a:latin typeface="Calibri"/>
              </a:rPr>
              <a:t>■  13 tabs, one file.</a:t>
            </a:r>
            <a:r>
              <a:rPr sz="1600" b="1">
                <a:solidFill>
                  <a:srgbClr val="E8C06A"/>
                </a:solidFill>
                <a:latin typeface="Calibri"/>
              </a:rPr>
              <a:t>  </a:t>
            </a:r>
            <a:r>
              <a:rPr sz="1600">
                <a:solidFill>
                  <a:srgbClr val="F2F6F7"/>
                </a:solidFill>
                <a:latin typeface="Calibri"/>
              </a:rPr>
              <a:t>opens offline in any browser — nothing to install, easy to hand off.</a:t>
            </a:r>
          </a:p>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Global cross-tab search.  </a:t>
            </a:r>
            <a:r>
              <a:rPr sz="1600">
                <a:solidFill>
                  <a:srgbClr val="F2F6F7"/>
                </a:solidFill>
                <a:latin typeface="Calibri"/>
              </a:rPr>
              <a:t>one box highlights matches across every tab, with per-tab hit counts and ▲/▼ jump ('/' or Ctrl-K to focus).</a:t>
            </a:r>
          </a:p>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Also exports  </a:t>
            </a:r>
            <a:r>
              <a:rPr sz="1600">
                <a:solidFill>
                  <a:srgbClr val="F2F6F7"/>
                </a:solidFill>
                <a:latin typeface="Calibri"/>
              </a:rPr>
              <a:t>structured JSON, a timeline CSV, ELK/SIEM NDJSON, and a ZIP evidence pack.</a:t>
            </a:r>
          </a:p>
        </p:txBody>
      </p:sp>
      <p:sp>
        <p:nvSpPr>
          <p:cNvPr id="18" name="TextBox 1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08 / 14</a:t>
            </a:r>
          </a:p>
        </p:txBody>
      </p:sp>
      <p:sp>
        <p:nvSpPr>
          <p:cNvPr id="6" name="Rectangle 5"/>
          <p:cNvSpPr/>
          <p:nvPr/>
        </p:nvSpPr>
        <p:spPr>
          <a:xfrm>
            <a:off x="685800" y="1874519"/>
            <a:ext cx="2404872"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Summary + Device</a:t>
            </a:r>
          </a:p>
        </p:txBody>
      </p:sp>
      <p:sp>
        <p:nvSpPr>
          <p:cNvPr id="6" name="Rectangle 5"/>
          <p:cNvSpPr/>
          <p:nvPr/>
        </p:nvSpPr>
        <p:spPr>
          <a:xfrm>
            <a:off x="3273552" y="1874519"/>
            <a:ext cx="1810512"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Correlation</a:t>
            </a:r>
          </a:p>
        </p:txBody>
      </p:sp>
      <p:sp>
        <p:nvSpPr>
          <p:cNvPr id="6" name="Rectangle 5"/>
          <p:cNvSpPr/>
          <p:nvPr/>
        </p:nvSpPr>
        <p:spPr>
          <a:xfrm>
            <a:off x="5266944" y="1874519"/>
            <a:ext cx="1572768"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Injection</a:t>
            </a:r>
          </a:p>
        </p:txBody>
      </p:sp>
      <p:sp>
        <p:nvSpPr>
          <p:cNvPr id="6" name="Rectangle 5"/>
          <p:cNvSpPr/>
          <p:nvPr/>
        </p:nvSpPr>
        <p:spPr>
          <a:xfrm>
            <a:off x="7022592" y="1874519"/>
            <a:ext cx="2523744"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Browser + Plugins</a:t>
            </a:r>
          </a:p>
        </p:txBody>
      </p:sp>
      <p:sp>
        <p:nvSpPr>
          <p:cNvPr id="6" name="Rectangle 5"/>
          <p:cNvSpPr/>
          <p:nvPr/>
        </p:nvSpPr>
        <p:spPr>
          <a:xfrm>
            <a:off x="9729216" y="1874519"/>
            <a:ext cx="1929384"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Process Tree</a:t>
            </a:r>
          </a:p>
        </p:txBody>
      </p:sp>
      <p:sp>
        <p:nvSpPr>
          <p:cNvPr id="6" name="Rectangle 5"/>
          <p:cNvSpPr/>
          <p:nvPr/>
        </p:nvSpPr>
        <p:spPr>
          <a:xfrm>
            <a:off x="685800" y="2532887"/>
            <a:ext cx="3236976"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Process Graph + Network</a:t>
            </a:r>
          </a:p>
        </p:txBody>
      </p:sp>
      <p:sp>
        <p:nvSpPr>
          <p:cNvPr id="6" name="Rectangle 5"/>
          <p:cNvSpPr/>
          <p:nvPr/>
        </p:nvSpPr>
        <p:spPr>
          <a:xfrm>
            <a:off x="4105656" y="2532887"/>
            <a:ext cx="978408"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IOCs</a:t>
            </a:r>
          </a:p>
        </p:txBody>
      </p:sp>
      <p:sp>
        <p:nvSpPr>
          <p:cNvPr id="6" name="Rectangle 5"/>
          <p:cNvSpPr/>
          <p:nvPr/>
        </p:nvSpPr>
        <p:spPr>
          <a:xfrm>
            <a:off x="5266944" y="2532887"/>
            <a:ext cx="1453896"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Timeline</a:t>
            </a:r>
          </a:p>
        </p:txBody>
      </p:sp>
      <p:sp>
        <p:nvSpPr>
          <p:cNvPr id="6" name="Rectangle 5"/>
          <p:cNvSpPr/>
          <p:nvPr/>
        </p:nvSpPr>
        <p:spPr>
          <a:xfrm>
            <a:off x="6903720" y="2532887"/>
            <a:ext cx="2167128"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Shell Commands</a:t>
            </a:r>
          </a:p>
        </p:txBody>
      </p:sp>
      <p:sp>
        <p:nvSpPr>
          <p:cNvPr id="6" name="Rectangle 5"/>
          <p:cNvSpPr/>
          <p:nvPr/>
        </p:nvSpPr>
        <p:spPr>
          <a:xfrm>
            <a:off x="9253728" y="2532887"/>
            <a:ext cx="2048256"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Popular Files</a:t>
            </a:r>
          </a:p>
        </p:txBody>
      </p:sp>
      <p:sp>
        <p:nvSpPr>
          <p:cNvPr id="6" name="Rectangle 5"/>
          <p:cNvSpPr/>
          <p:nvPr/>
        </p:nvSpPr>
        <p:spPr>
          <a:xfrm>
            <a:off x="685800" y="3191256"/>
            <a:ext cx="2286000"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Scheduled Tasks</a:t>
            </a:r>
          </a:p>
        </p:txBody>
      </p:sp>
      <p:sp>
        <p:nvSpPr>
          <p:cNvPr id="6" name="Rectangle 5"/>
          <p:cNvSpPr/>
          <p:nvPr/>
        </p:nvSpPr>
        <p:spPr>
          <a:xfrm>
            <a:off x="3154680" y="3191256"/>
            <a:ext cx="1453896"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Registry</a:t>
            </a:r>
          </a:p>
        </p:txBody>
      </p:sp>
      <p:sp>
        <p:nvSpPr>
          <p:cNvPr id="6" name="Rectangle 5"/>
          <p:cNvSpPr/>
          <p:nvPr/>
        </p:nvSpPr>
        <p:spPr>
          <a:xfrm>
            <a:off x="4791456" y="3191256"/>
            <a:ext cx="1691640" cy="502920"/>
          </a:xfrm>
          <a:prstGeom prst="rect">
            <a:avLst/>
          </a:prstGeom>
          <a:solidFill>
            <a:srgbClr val="102A33"/>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1300" b="0" i="0">
                <a:solidFill>
                  <a:srgbClr val="F2F6F7"/>
                </a:solidFill>
                <a:latin typeface="Calibri"/>
              </a:rPr>
              <a:t>Other 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FLEXIBILITY</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Modes for every situation</a:t>
            </a:r>
          </a:p>
        </p:txBody>
      </p:sp>
      <p:sp>
        <p:nvSpPr>
          <p:cNvPr id="6" name="TextBox 5"/>
          <p:cNvSpPr txBox="1"/>
          <p:nvPr/>
        </p:nvSpPr>
        <p:spPr>
          <a:xfrm>
            <a:off x="685800" y="1828800"/>
            <a:ext cx="10881360" cy="4206240"/>
          </a:xfrm>
          <a:prstGeom prst="rect">
            <a:avLst/>
          </a:prstGeom>
          <a:noFill/>
        </p:spPr>
        <p:txBody>
          <a:bodyPr wrap="square">
            <a:spAutoFit/>
          </a:bodyPr>
          <a:lstStyle/>
          <a:p>
            <a:pPr>
              <a:spcAft>
                <a:spcPts val="1400"/>
              </a:spcAft>
            </a:pPr>
            <a:r>
              <a:rPr b="1" sz="1900">
                <a:solidFill>
                  <a:srgbClr val="E8C06A"/>
                </a:solidFill>
                <a:latin typeface="Calibri"/>
              </a:rPr>
              <a:t>CORE   </a:t>
            </a:r>
            <a:r>
              <a:rPr sz="1600">
                <a:solidFill>
                  <a:srgbClr val="A9BABE"/>
                </a:solidFill>
                <a:latin typeface="Calibri"/>
              </a:rPr>
              <a:t>full analysis, no event logs — the default deep run</a:t>
            </a:r>
          </a:p>
          <a:p>
            <a:pPr>
              <a:spcAft>
                <a:spcPts val="1400"/>
              </a:spcAft>
            </a:pPr>
            <a:r>
              <a:rPr b="1" sz="1900">
                <a:solidFill>
                  <a:srgbClr val="E8C06A"/>
                </a:solidFill>
                <a:latin typeface="Calibri"/>
              </a:rPr>
              <a:t>DEFAULT   </a:t>
            </a:r>
            <a:r>
              <a:rPr sz="1600">
                <a:solidFill>
                  <a:srgbClr val="A9BABE"/>
                </a:solidFill>
                <a:latin typeface="Calibri"/>
              </a:rPr>
              <a:t>CORE plus Windows event-log dump &amp; parse</a:t>
            </a:r>
          </a:p>
          <a:p>
            <a:pPr>
              <a:spcAft>
                <a:spcPts val="1400"/>
              </a:spcAft>
            </a:pPr>
            <a:r>
              <a:rPr b="1" sz="1900">
                <a:solidFill>
                  <a:srgbClr val="E8C06A"/>
                </a:solidFill>
                <a:latin typeface="Calibri"/>
              </a:rPr>
              <a:t>Only Vol Plugins   </a:t>
            </a:r>
            <a:r>
              <a:rPr sz="1600">
                <a:solidFill>
                  <a:srgbClr val="A9BABE"/>
                </a:solidFill>
                <a:latin typeface="Calibri"/>
              </a:rPr>
              <a:t>just the Volatility plugins — skip the slow strings pass</a:t>
            </a:r>
          </a:p>
          <a:p>
            <a:pPr>
              <a:spcAft>
                <a:spcPts val="1400"/>
              </a:spcAft>
            </a:pPr>
            <a:r>
              <a:rPr b="1" sz="1900">
                <a:solidFill>
                  <a:srgbClr val="E8C06A"/>
                </a:solidFill>
                <a:latin typeface="Calibri"/>
              </a:rPr>
              <a:t>RAMBreaker Eye (DFIR)   CORE, then dump ALL processes and ALL files (experimental)</a:t>
            </a:r>
            <a:r>
              <a:rPr sz="1600">
                <a:solidFill>
                  <a:srgbClr val="A9BABE"/>
                </a:solidFill>
                <a:latin typeface="Calibri"/>
              </a:rPr>
              <a:t/>
            </a:r>
          </a:p>
          <a:p>
            <a:pPr>
              <a:spcAft>
                <a:spcPts val="1400"/>
              </a:spcAft>
            </a:pPr>
            <a:r>
              <a:rPr b="1" sz="1900">
                <a:solidFill>
                  <a:srgbClr val="E8C06A"/>
                </a:solidFill>
                <a:latin typeface="Calibri"/>
              </a:rPr>
              <a:t>(ctf is an alias of Only Vol Plugins, not a separate mode)</a:t>
            </a:r>
            <a:r>
              <a:rPr sz="1600">
                <a:solidFill>
                  <a:srgbClr val="A9BABE"/>
                </a:solidFill>
                <a:latin typeface="Calibri"/>
              </a:rPr>
              <a:t/>
            </a:r>
          </a:p>
          <a:p>
            <a:pPr>
              <a:spcAft>
                <a:spcPts val="1400"/>
              </a:spcAft>
            </a:pPr>
            <a:r>
              <a:rPr b="1" sz="1900">
                <a:solidFill>
                  <a:srgbClr val="E8C06A"/>
                </a:solidFill>
                <a:latin typeface="Calibri"/>
              </a:rPr>
              <a:t>Hunt   </a:t>
            </a:r>
            <a:r>
              <a:rPr sz="1600">
                <a:solidFill>
                  <a:srgbClr val="A9BABE"/>
                </a:solidFill>
                <a:latin typeface="Calibri"/>
              </a:rPr>
              <a:t>live in-memory YARA search for specific strings, per-PID</a:t>
            </a:r>
          </a:p>
        </p:txBody>
      </p:sp>
      <p:sp>
        <p:nvSpPr>
          <p:cNvPr id="7" name="TextBox 6"/>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DESIGN PHILOSOPHY</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Evidence, not verdicts</a:t>
            </a:r>
          </a:p>
        </p:txBody>
      </p:sp>
      <p:sp>
        <p:nvSpPr>
          <p:cNvPr id="6" name="Rectangle 5"/>
          <p:cNvSpPr/>
          <p:nvPr/>
        </p:nvSpPr>
        <p:spPr>
          <a:xfrm>
            <a:off x="822960" y="1920240"/>
            <a:ext cx="10515600" cy="146304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tIns="182880"/>
          <a:lstStyle/>
          <a:p>
            <a:pPr algn="l">
              <a:spcBef>
                <a:spcPts val="0"/>
              </a:spcBef>
              <a:spcAft>
                <a:spcPts val="600"/>
              </a:spcAft>
            </a:pPr>
            <a:r>
              <a:rPr sz="2000" b="0" i="1">
                <a:solidFill>
                  <a:srgbClr val="F2F6F7"/>
                </a:solidFill>
                <a:latin typeface="Calibri"/>
              </a:rPr>
              <a:t>“It presents evidence and highlights what deserves a human's attention — it never renders an automated 'this is malware' verdict. The analyst decides.”</a:t>
            </a:r>
          </a:p>
        </p:txBody>
      </p:sp>
      <p:sp>
        <p:nvSpPr>
          <p:cNvPr id="7" name="TextBox 6"/>
          <p:cNvSpPr txBox="1"/>
          <p:nvPr/>
        </p:nvSpPr>
        <p:spPr>
          <a:xfrm>
            <a:off x="685800" y="3749039"/>
            <a:ext cx="10789920" cy="2377440"/>
          </a:xfrm>
          <a:prstGeom prst="rect">
            <a:avLst/>
          </a:prstGeom>
          <a:noFill/>
        </p:spPr>
        <p:txBody>
          <a:bodyPr wrap="square">
            <a:spAutoFit/>
          </a:bodyPr>
          <a:lstStyle/>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Observations, not accusations.  </a:t>
            </a:r>
            <a:r>
              <a:rPr sz="1600">
                <a:solidFill>
                  <a:srgbClr val="F2F6F7"/>
                </a:solidFill>
                <a:latin typeface="Calibri"/>
              </a:rPr>
              <a:t>'unexpected parent', 'ran from /tmp' — flags, not conclusions.</a:t>
            </a:r>
          </a:p>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Safe by default.  </a:t>
            </a:r>
            <a:r>
              <a:rPr sz="1600">
                <a:solidFill>
                  <a:srgbClr val="F2F6F7"/>
                </a:solidFill>
                <a:latin typeface="Calibri"/>
              </a:rPr>
              <a:t>NTLM hashes redacted in reports; raw data stays in the JSON.</a:t>
            </a:r>
          </a:p>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False-positive discipline.  </a:t>
            </a:r>
            <a:r>
              <a:rPr sz="1600">
                <a:solidFill>
                  <a:srgbClr val="F2F6F7"/>
                </a:solidFill>
                <a:latin typeface="Calibri"/>
              </a:rPr>
              <a:t>IOC and token patterns are context-anchored, not naive regex.</a:t>
            </a:r>
          </a:p>
          <a:p>
            <a:pPr>
              <a:lnSpc>
                <a:spcPct val="105000"/>
              </a:lnSpc>
              <a:spcBef>
                <a:spcPts val="0"/>
              </a:spcBef>
              <a:spcAft>
                <a:spcPts val="1100"/>
              </a:spcAft>
            </a:pPr>
            <a:r>
              <a:rPr sz="1600" b="1">
                <a:solidFill>
                  <a:srgbClr val="2EC4B6"/>
                </a:solidFill>
                <a:latin typeface="Calibri"/>
              </a:rPr>
              <a:t>◆  </a:t>
            </a:r>
            <a:r>
              <a:rPr sz="1600" b="1">
                <a:solidFill>
                  <a:srgbClr val="E8C06A"/>
                </a:solidFill>
                <a:latin typeface="Calibri"/>
              </a:rPr>
              <a:t>Court-defensible.  </a:t>
            </a:r>
            <a:r>
              <a:rPr sz="1600">
                <a:solidFill>
                  <a:srgbClr val="F2F6F7"/>
                </a:solidFill>
                <a:latin typeface="Calibri"/>
              </a:rPr>
              <a:t>transparent, reproducible, evidence-first — and self-contained output.</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PROOF</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Real measured runs</a:t>
            </a:r>
          </a:p>
        </p:txBody>
      </p:sp>
      <p:sp>
        <p:nvSpPr>
          <p:cNvPr id="6" name="TextBox 5"/>
          <p:cNvSpPr txBox="1"/>
          <p:nvPr/>
        </p:nvSpPr>
        <p:spPr>
          <a:xfrm>
            <a:off x="685800" y="1828800"/>
            <a:ext cx="10881360" cy="4023360"/>
          </a:xfrm>
          <a:prstGeom prst="rect">
            <a:avLst/>
          </a:prstGeom>
          <a:noFill/>
        </p:spPr>
        <p:txBody>
          <a:bodyPr wrap="square">
            <a:spAutoFit/>
          </a:bodyPr>
          <a:lstStyle/>
          <a:p>
            <a:pPr>
              <a:spcAft>
                <a:spcPts val="1500"/>
              </a:spcAft>
            </a:pPr>
            <a:r>
              <a:rPr b="1" sz="2000">
                <a:solidFill>
                  <a:srgbClr val="2EC4B6"/>
                </a:solidFill>
                <a:latin typeface="Consolas"/>
              </a:rPr>
              <a:t>   57 s   </a:t>
            </a:r>
            <a:r>
              <a:rPr sz="1700" b="1">
                <a:solidFill>
                  <a:srgbClr val="F2F6F7"/>
                </a:solidFill>
                <a:latin typeface="Calibri"/>
              </a:rPr>
              <a:t>Win Server 2012 · 512 MB    </a:t>
            </a:r>
            <a:r>
              <a:rPr sz="1400">
                <a:solidFill>
                  <a:srgbClr val="A9BABE"/>
                </a:solidFill>
                <a:latin typeface="Calibri"/>
              </a:rPr>
              <a:t>— 11/11 plugins · 127 event-log files</a:t>
            </a:r>
          </a:p>
          <a:p>
            <a:pPr>
              <a:spcAft>
                <a:spcPts val="1500"/>
              </a:spcAft>
            </a:pPr>
            <a:r>
              <a:rPr b="1" sz="2000">
                <a:solidFill>
                  <a:srgbClr val="2EC4B6"/>
                </a:solidFill>
                <a:latin typeface="Consolas"/>
              </a:rPr>
              <a:t>  227 s   </a:t>
            </a:r>
            <a:r>
              <a:rPr sz="1700" b="1">
                <a:solidFill>
                  <a:srgbClr val="F2F6F7"/>
                </a:solidFill>
                <a:latin typeface="Calibri"/>
              </a:rPr>
              <a:t>Windows 10 · 2.1 GB    </a:t>
            </a:r>
            <a:r>
              <a:rPr sz="1400">
                <a:solidFill>
                  <a:srgbClr val="A9BABE"/>
                </a:solidFill>
                <a:latin typeface="Calibri"/>
              </a:rPr>
              <a:t>— 168 files · 26,946 events · 6.2 MB report</a:t>
            </a:r>
          </a:p>
          <a:p>
            <a:pPr>
              <a:spcAft>
                <a:spcPts val="1500"/>
              </a:spcAft>
            </a:pPr>
            <a:r>
              <a:rPr b="1" sz="2000">
                <a:solidFill>
                  <a:srgbClr val="2EC4B6"/>
                </a:solidFill>
                <a:latin typeface="Consolas"/>
              </a:rPr>
              <a:t>  133 s   </a:t>
            </a:r>
            <a:r>
              <a:rPr sz="1700" b="1">
                <a:solidFill>
                  <a:srgbClr val="F2F6F7"/>
                </a:solidFill>
                <a:latin typeface="Calibri"/>
              </a:rPr>
              <a:t>Windows 7 · 1.5 GB    </a:t>
            </a:r>
            <a:r>
              <a:rPr sz="1400">
                <a:solidFill>
                  <a:srgbClr val="A9BABE"/>
                </a:solidFill>
                <a:latin typeface="Calibri"/>
              </a:rPr>
              <a:t>— 3,218 files · 2 suspicious processes</a:t>
            </a:r>
          </a:p>
          <a:p>
            <a:pPr>
              <a:spcAft>
                <a:spcPts val="1500"/>
              </a:spcAft>
            </a:pPr>
            <a:r>
              <a:rPr b="1" sz="2000">
                <a:solidFill>
                  <a:srgbClr val="2EC4B6"/>
                </a:solidFill>
                <a:latin typeface="Consolas"/>
              </a:rPr>
              <a:t>   57 s   </a:t>
            </a:r>
            <a:r>
              <a:rPr sz="1700" b="1">
                <a:solidFill>
                  <a:srgbClr val="F2F6F7"/>
                </a:solidFill>
                <a:latin typeface="Calibri"/>
              </a:rPr>
              <a:t>macOS · 1.1 GB    </a:t>
            </a:r>
            <a:r>
              <a:rPr sz="1400">
                <a:solidFill>
                  <a:srgbClr val="A9BABE"/>
                </a:solidFill>
                <a:latin typeface="Calibri"/>
              </a:rPr>
              <a:t>— 17,407 file entries · auto-resolved symbols</a:t>
            </a:r>
          </a:p>
          <a:p>
            <a:pPr>
              <a:spcAft>
                <a:spcPts val="1500"/>
              </a:spcAft>
            </a:pPr>
            <a:r>
              <a:rPr b="1" sz="2000">
                <a:solidFill>
                  <a:srgbClr val="2EC4B6"/>
                </a:solidFill>
                <a:latin typeface="Consolas"/>
              </a:rPr>
              <a:t> 38 min   </a:t>
            </a:r>
            <a:r>
              <a:rPr sz="1700" b="1">
                <a:solidFill>
                  <a:srgbClr val="F2F6F7"/>
                </a:solidFill>
                <a:latin typeface="Calibri"/>
              </a:rPr>
              <a:t>Linux 6.5 · 4.1 GB    </a:t>
            </a:r>
            <a:r>
              <a:rPr sz="1400">
                <a:solidFill>
                  <a:srgbClr val="A9BABE"/>
                </a:solidFill>
                <a:latin typeface="Calibri"/>
              </a:rPr>
              <a:t>— 344 processes · 7.5 MB report (slow by nature)</a:t>
            </a:r>
          </a:p>
        </p:txBody>
      </p:sp>
      <p:sp>
        <p:nvSpPr>
          <p:cNvPr id="7" name="TextBox 6"/>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ENGINEERING</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What makes it robust</a:t>
            </a:r>
          </a:p>
        </p:txBody>
      </p:sp>
      <p:sp>
        <p:nvSpPr>
          <p:cNvPr id="6" name="Rectangle 5"/>
          <p:cNvSpPr/>
          <p:nvPr/>
        </p:nvSpPr>
        <p:spPr>
          <a:xfrm>
            <a:off x="6858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33.7k</a:t>
            </a:r>
          </a:p>
          <a:p>
            <a:pPr algn="ctr">
              <a:spcBef>
                <a:spcPts val="0"/>
              </a:spcBef>
              <a:spcAft>
                <a:spcPts val="200"/>
              </a:spcAft>
            </a:pPr>
            <a:r>
              <a:rPr sz="1200" b="0" i="0">
                <a:solidFill>
                  <a:srgbClr val="A9BABE"/>
                </a:solidFill>
                <a:latin typeface="Calibri"/>
              </a:rPr>
              <a:t>lines of Python</a:t>
            </a:r>
          </a:p>
        </p:txBody>
      </p:sp>
      <p:sp>
        <p:nvSpPr>
          <p:cNvPr id="7" name="Rectangle 6"/>
          <p:cNvSpPr/>
          <p:nvPr/>
        </p:nvSpPr>
        <p:spPr>
          <a:xfrm>
            <a:off x="25146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69</a:t>
            </a:r>
          </a:p>
          <a:p>
            <a:pPr algn="ctr">
              <a:spcBef>
                <a:spcPts val="0"/>
              </a:spcBef>
              <a:spcAft>
                <a:spcPts val="200"/>
              </a:spcAft>
            </a:pPr>
            <a:r>
              <a:rPr sz="1200" b="0" i="0">
                <a:solidFill>
                  <a:srgbClr val="A9BABE"/>
                </a:solidFill>
                <a:latin typeface="Calibri"/>
              </a:rPr>
              <a:t>modules</a:t>
            </a:r>
          </a:p>
        </p:txBody>
      </p:sp>
      <p:sp>
        <p:nvSpPr>
          <p:cNvPr id="8" name="Rectangle 7"/>
          <p:cNvSpPr/>
          <p:nvPr/>
        </p:nvSpPr>
        <p:spPr>
          <a:xfrm>
            <a:off x="43434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3</a:t>
            </a:r>
          </a:p>
          <a:p>
            <a:pPr algn="ctr">
              <a:spcBef>
                <a:spcPts val="0"/>
              </a:spcBef>
              <a:spcAft>
                <a:spcPts val="200"/>
              </a:spcAft>
            </a:pPr>
            <a:r>
              <a:rPr sz="1200" b="0" i="0">
                <a:solidFill>
                  <a:srgbClr val="A9BABE"/>
                </a:solidFill>
                <a:latin typeface="Calibri"/>
              </a:rPr>
              <a:t>operating systems</a:t>
            </a:r>
          </a:p>
        </p:txBody>
      </p:sp>
      <p:sp>
        <p:nvSpPr>
          <p:cNvPr id="9" name="Rectangle 8"/>
          <p:cNvSpPr/>
          <p:nvPr/>
        </p:nvSpPr>
        <p:spPr>
          <a:xfrm>
            <a:off x="61722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13</a:t>
            </a:r>
          </a:p>
          <a:p>
            <a:pPr algn="ctr">
              <a:spcBef>
                <a:spcPts val="0"/>
              </a:spcBef>
              <a:spcAft>
                <a:spcPts val="200"/>
              </a:spcAft>
            </a:pPr>
            <a:r>
              <a:rPr sz="1200" b="0" i="0">
                <a:solidFill>
                  <a:srgbClr val="A9BABE"/>
                </a:solidFill>
                <a:latin typeface="Calibri"/>
              </a:rPr>
              <a:t>report tabs</a:t>
            </a:r>
          </a:p>
        </p:txBody>
      </p:sp>
      <p:sp>
        <p:nvSpPr>
          <p:cNvPr id="10" name="Rectangle 9"/>
          <p:cNvSpPr/>
          <p:nvPr/>
        </p:nvSpPr>
        <p:spPr>
          <a:xfrm>
            <a:off x="80010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4</a:t>
            </a:r>
          </a:p>
          <a:p>
            <a:pPr algn="ctr">
              <a:spcBef>
                <a:spcPts val="0"/>
              </a:spcBef>
              <a:spcAft>
                <a:spcPts val="200"/>
              </a:spcAft>
            </a:pPr>
            <a:r>
              <a:rPr sz="1200" b="0" i="0">
                <a:solidFill>
                  <a:srgbClr val="A9BABE"/>
                </a:solidFill>
                <a:latin typeface="Calibri"/>
              </a:rPr>
              <a:t>pipeline modes</a:t>
            </a:r>
          </a:p>
        </p:txBody>
      </p:sp>
      <p:sp>
        <p:nvSpPr>
          <p:cNvPr id="11" name="Rectangle 10"/>
          <p:cNvSpPr/>
          <p:nvPr/>
        </p:nvSpPr>
        <p:spPr>
          <a:xfrm>
            <a:off x="9829800" y="1828800"/>
            <a:ext cx="1737360" cy="1371600"/>
          </a:xfrm>
          <a:prstGeom prst="rect">
            <a:avLst/>
          </a:prstGeom>
          <a:solidFill>
            <a:srgbClr val="10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3000" b="1" i="0">
                <a:solidFill>
                  <a:srgbClr val="2EC4B6"/>
                </a:solidFill>
                <a:latin typeface="Calibri"/>
              </a:rPr>
              <a:t>2</a:t>
            </a:r>
          </a:p>
          <a:p>
            <a:pPr algn="ctr">
              <a:spcBef>
                <a:spcPts val="0"/>
              </a:spcBef>
              <a:spcAft>
                <a:spcPts val="200"/>
              </a:spcAft>
            </a:pPr>
            <a:r>
              <a:rPr sz="1200" b="0" i="0">
                <a:solidFill>
                  <a:srgbClr val="A9BABE"/>
                </a:solidFill>
                <a:latin typeface="Calibri"/>
              </a:rPr>
              <a:t>Volatility engines</a:t>
            </a:r>
          </a:p>
        </p:txBody>
      </p:sp>
      <p:sp>
        <p:nvSpPr>
          <p:cNvPr id="12" name="TextBox 11"/>
          <p:cNvSpPr txBox="1"/>
          <p:nvPr/>
        </p:nvSpPr>
        <p:spPr>
          <a:xfrm>
            <a:off x="685800" y="3611880"/>
            <a:ext cx="10789920" cy="2560320"/>
          </a:xfrm>
          <a:prstGeom prst="rect">
            <a:avLst/>
          </a:prstGeom>
          <a:noFill/>
        </p:spPr>
        <p:txBody>
          <a:bodyPr wrap="square">
            <a:spAutoFit/>
          </a:bodyPr>
          <a:lstStyle/>
          <a:p>
            <a:pPr>
              <a:lnSpc>
                <a:spcPct val="105000"/>
              </a:lnSpc>
              <a:spcBef>
                <a:spcPts val="0"/>
              </a:spcBef>
              <a:spcAft>
                <a:spcPts val="900"/>
              </a:spcAft>
            </a:pPr>
            <a:r>
              <a:rPr sz="1500" b="1">
                <a:solidFill>
                  <a:srgbClr val="2EC4B6"/>
                </a:solidFill>
                <a:latin typeface="Calibri"/>
              </a:rPr>
              <a:t>●  </a:t>
            </a:r>
            <a:r>
              <a:rPr sz="1500" b="1">
                <a:solidFill>
                  <a:srgbClr val="E8C06A"/>
                </a:solidFill>
                <a:latin typeface="Calibri"/>
              </a:rPr>
              <a:t>Defensive by design.  </a:t>
            </a:r>
            <a:r>
              <a:rPr sz="1500">
                <a:solidFill>
                  <a:srgbClr val="F2F6F7"/>
                </a:solidFill>
                <a:latin typeface="Calibri"/>
              </a:rPr>
              <a:t>handles Volatility's 'exit 0 on failure' bug; falls back from pslist to pstree.</a:t>
            </a:r>
          </a:p>
          <a:p>
            <a:pPr>
              <a:lnSpc>
                <a:spcPct val="105000"/>
              </a:lnSpc>
              <a:spcBef>
                <a:spcPts val="0"/>
              </a:spcBef>
              <a:spcAft>
                <a:spcPts val="900"/>
              </a:spcAft>
            </a:pPr>
            <a:r>
              <a:rPr sz="1500" b="1">
                <a:solidFill>
                  <a:srgbClr val="2EC4B6"/>
                </a:solidFill>
                <a:latin typeface="Calibri"/>
              </a:rPr>
              <a:t>●  </a:t>
            </a:r>
            <a:r>
              <a:rPr sz="1500" b="1">
                <a:solidFill>
                  <a:srgbClr val="E8C06A"/>
                </a:solidFill>
                <a:latin typeface="Calibri"/>
              </a:rPr>
              <a:t>RAM-guarded parallelism.  </a:t>
            </a:r>
            <a:r>
              <a:rPr sz="1500">
                <a:solidFill>
                  <a:srgbClr val="F2F6F7"/>
                </a:solidFill>
                <a:latin typeface="Calibri"/>
              </a:rPr>
              <a:t>caps concurrent jobs to what the host can survive — no OOM crashes.</a:t>
            </a:r>
          </a:p>
          <a:p>
            <a:pPr>
              <a:lnSpc>
                <a:spcPct val="105000"/>
              </a:lnSpc>
              <a:spcBef>
                <a:spcPts val="0"/>
              </a:spcBef>
              <a:spcAft>
                <a:spcPts val="900"/>
              </a:spcAft>
            </a:pPr>
            <a:r>
              <a:rPr sz="1500" b="1">
                <a:solidFill>
                  <a:srgbClr val="2EC4B6"/>
                </a:solidFill>
                <a:latin typeface="Calibri"/>
              </a:rPr>
              <a:t>●  </a:t>
            </a:r>
            <a:r>
              <a:rPr sz="1500" b="1">
                <a:solidFill>
                  <a:srgbClr val="E8C06A"/>
                </a:solidFill>
                <a:latin typeface="Calibri"/>
              </a:rPr>
              <a:t>Ships its own fixes.  </a:t>
            </a:r>
            <a:r>
              <a:rPr sz="1500">
                <a:solidFill>
                  <a:srgbClr val="F2F6F7"/>
                </a:solidFill>
                <a:latin typeface="Calibri"/>
              </a:rPr>
              <a:t>bundles patched Vol3 plugins: macOS file-content recovery + an iterative list_files that won't crash.</a:t>
            </a:r>
          </a:p>
          <a:p>
            <a:pPr>
              <a:lnSpc>
                <a:spcPct val="105000"/>
              </a:lnSpc>
              <a:spcBef>
                <a:spcPts val="0"/>
              </a:spcBef>
              <a:spcAft>
                <a:spcPts val="900"/>
              </a:spcAft>
            </a:pPr>
            <a:r>
              <a:rPr sz="1500" b="1">
                <a:solidFill>
                  <a:srgbClr val="2EC4B6"/>
                </a:solidFill>
                <a:latin typeface="Calibri"/>
              </a:rPr>
              <a:t>●  </a:t>
            </a:r>
            <a:r>
              <a:rPr sz="1500" b="1">
                <a:solidFill>
                  <a:srgbClr val="E8C06A"/>
                </a:solidFill>
                <a:latin typeface="Calibri"/>
              </a:rPr>
              <a:t>Battle-tested.  </a:t>
            </a:r>
            <a:r>
              <a:rPr sz="1500">
                <a:solidFill>
                  <a:srgbClr val="F2F6F7"/>
                </a:solidFill>
                <a:latin typeface="Calibri"/>
              </a:rPr>
              <a:t>a documented history of bugs found and fixed across dozens of real images.</a:t>
            </a:r>
          </a:p>
        </p:txBody>
      </p:sp>
      <p:sp>
        <p:nvSpPr>
          <p:cNvPr id="13" name="TextBox 12"/>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32688"/>
            <a:ext cx="1005840" cy="6400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384048"/>
            <a:ext cx="10058400" cy="457200"/>
          </a:xfrm>
          <a:prstGeom prst="rect">
            <a:avLst/>
          </a:prstGeom>
          <a:noFill/>
        </p:spPr>
        <p:txBody>
          <a:bodyPr wrap="square">
            <a:spAutoFit/>
          </a:bodyPr>
          <a:lstStyle/>
          <a:p>
            <a:pPr algn="l">
              <a:spcBef>
                <a:spcPts val="0"/>
              </a:spcBef>
              <a:spcAft>
                <a:spcPts val="600"/>
              </a:spcAft>
            </a:pPr>
            <a:r>
              <a:rPr sz="1300" b="1" i="0">
                <a:solidFill>
                  <a:srgbClr val="2EC4B6"/>
                </a:solidFill>
                <a:latin typeface="Calibri"/>
              </a:rPr>
              <a:t>HONESTY &amp; DIRECTION</a:t>
            </a:r>
          </a:p>
        </p:txBody>
      </p:sp>
      <p:sp>
        <p:nvSpPr>
          <p:cNvPr id="5" name="TextBox 4"/>
          <p:cNvSpPr txBox="1"/>
          <p:nvPr/>
        </p:nvSpPr>
        <p:spPr>
          <a:xfrm>
            <a:off x="566928" y="566928"/>
            <a:ext cx="1097280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Limits and where it's going</a:t>
            </a:r>
          </a:p>
        </p:txBody>
      </p:sp>
      <p:sp>
        <p:nvSpPr>
          <p:cNvPr id="6" name="TextBox 5"/>
          <p:cNvSpPr txBox="1"/>
          <p:nvPr/>
        </p:nvSpPr>
        <p:spPr>
          <a:xfrm>
            <a:off x="685800" y="1783080"/>
            <a:ext cx="5303520" cy="4206240"/>
          </a:xfrm>
          <a:prstGeom prst="rect">
            <a:avLst/>
          </a:prstGeom>
          <a:noFill/>
        </p:spPr>
        <p:txBody>
          <a:bodyPr wrap="square">
            <a:spAutoFit/>
          </a:bodyPr>
          <a:lstStyle/>
          <a:p>
            <a:pPr algn="l">
              <a:spcBef>
                <a:spcPts val="0"/>
              </a:spcBef>
              <a:spcAft>
                <a:spcPts val="600"/>
              </a:spcAft>
            </a:pPr>
            <a:r>
              <a:rPr sz="2000" b="1" i="0">
                <a:solidFill>
                  <a:srgbClr val="E8C06A"/>
                </a:solidFill>
                <a:latin typeface="Calibri"/>
              </a:rPr>
              <a:t>Known limits</a:t>
            </a:r>
          </a:p>
          <a:p>
            <a:pPr>
              <a:spcAft>
                <a:spcPts val="1000"/>
              </a:spcAft>
            </a:pPr>
            <a:r>
              <a:rPr sz="1500">
                <a:solidFill>
                  <a:srgbClr val="A9BABE"/>
                </a:solidFill>
                <a:latin typeface="Calibri"/>
              </a:rPr>
              <a:t>–  Linux full runs can take 30–60 min on large images</a:t>
            </a:r>
          </a:p>
          <a:p>
            <a:pPr>
              <a:spcAft>
                <a:spcPts val="1000"/>
              </a:spcAft>
            </a:pPr>
            <a:r>
              <a:rPr sz="1500">
                <a:solidFill>
                  <a:srgbClr val="A9BABE"/>
                </a:solidFill>
                <a:latin typeface="Calibri"/>
              </a:rPr>
              <a:t>–  Bare .vmem needs its .vmss/.vmsn companion</a:t>
            </a:r>
          </a:p>
          <a:p>
            <a:pPr>
              <a:spcAft>
                <a:spcPts val="1000"/>
              </a:spcAft>
            </a:pPr>
            <a:r>
              <a:rPr sz="1500">
                <a:solidFill>
                  <a:srgbClr val="A9BABE"/>
                </a:solidFill>
                <a:latin typeface="Calibri"/>
              </a:rPr>
              <a:t>–  macOS is Volatility-3-only; a few plugins fail</a:t>
            </a:r>
          </a:p>
          <a:p>
            <a:pPr>
              <a:spcAft>
                <a:spcPts val="1000"/>
              </a:spcAft>
            </a:pPr>
            <a:r>
              <a:rPr sz="1500">
                <a:solidFill>
                  <a:srgbClr val="A9BABE"/>
                </a:solidFill>
                <a:latin typeface="Calibri"/>
              </a:rPr>
              <a:t>–  'RAMBreaker Eye' dump-everything is experimental</a:t>
            </a:r>
          </a:p>
          <a:p>
            <a:pPr>
              <a:spcAft>
                <a:spcPts val="1000"/>
              </a:spcAft>
            </a:pPr>
            <a:r>
              <a:rPr sz="1500">
                <a:solidFill>
                  <a:srgbClr val="A9BABE"/>
                </a:solidFill>
                <a:latin typeface="Calibri"/>
              </a:rPr>
              <a:t>–  First cold run pays a one-time cache build</a:t>
            </a:r>
          </a:p>
        </p:txBody>
      </p:sp>
      <p:sp>
        <p:nvSpPr>
          <p:cNvPr id="7" name="TextBox 6"/>
          <p:cNvSpPr txBox="1"/>
          <p:nvPr/>
        </p:nvSpPr>
        <p:spPr>
          <a:xfrm>
            <a:off x="6309360" y="1783080"/>
            <a:ext cx="5212080" cy="4206240"/>
          </a:xfrm>
          <a:prstGeom prst="rect">
            <a:avLst/>
          </a:prstGeom>
          <a:noFill/>
        </p:spPr>
        <p:txBody>
          <a:bodyPr wrap="square">
            <a:spAutoFit/>
          </a:bodyPr>
          <a:lstStyle/>
          <a:p>
            <a:pPr algn="l">
              <a:spcBef>
                <a:spcPts val="0"/>
              </a:spcBef>
              <a:spcAft>
                <a:spcPts val="600"/>
              </a:spcAft>
            </a:pPr>
            <a:r>
              <a:rPr sz="2000" b="1" i="0">
                <a:solidFill>
                  <a:srgbClr val="2EC4B6"/>
                </a:solidFill>
                <a:latin typeface="Calibri"/>
              </a:rPr>
              <a:t>Roadmap</a:t>
            </a:r>
          </a:p>
          <a:p>
            <a:pPr>
              <a:spcAft>
                <a:spcPts val="1000"/>
              </a:spcAft>
            </a:pPr>
            <a:r>
              <a:rPr sz="1500">
                <a:solidFill>
                  <a:srgbClr val="F2F6F7"/>
                </a:solidFill>
                <a:latin typeface="Calibri"/>
              </a:rPr>
              <a:t>+  Wider out-of-the-box auto-built symbol coverage</a:t>
            </a:r>
          </a:p>
          <a:p>
            <a:pPr>
              <a:spcAft>
                <a:spcPts val="1000"/>
              </a:spcAft>
            </a:pPr>
            <a:r>
              <a:rPr sz="1500">
                <a:solidFill>
                  <a:srgbClr val="F2F6F7"/>
                </a:solidFill>
                <a:latin typeface="Calibri"/>
              </a:rPr>
              <a:t>+  Faster Linux path (streaming IOC scan)</a:t>
            </a:r>
          </a:p>
          <a:p>
            <a:pPr>
              <a:spcAft>
                <a:spcPts val="1000"/>
              </a:spcAft>
            </a:pPr>
            <a:r>
              <a:rPr sz="1500">
                <a:solidFill>
                  <a:srgbClr val="F2F6F7"/>
                </a:solidFill>
                <a:latin typeface="Calibri"/>
              </a:rPr>
              <a:t>+  More comms apps + richer MITRE mapping</a:t>
            </a:r>
          </a:p>
          <a:p>
            <a:pPr>
              <a:spcAft>
                <a:spcPts val="1000"/>
              </a:spcAft>
            </a:pPr>
            <a:r>
              <a:rPr sz="1500">
                <a:solidFill>
                  <a:srgbClr val="F2F6F7"/>
                </a:solidFill>
                <a:latin typeface="Calibri"/>
              </a:rPr>
              <a:t>+  Signed/hashed evidence manifest for chain-of-custody</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17320"/>
            <a:ext cx="10332720" cy="1005840"/>
          </a:xfrm>
          <a:prstGeom prst="rect">
            <a:avLst/>
          </a:prstGeom>
          <a:noFill/>
        </p:spPr>
        <p:txBody>
          <a:bodyPr wrap="square">
            <a:spAutoFit/>
          </a:bodyPr>
          <a:lstStyle/>
          <a:p>
            <a:pPr algn="l">
              <a:spcBef>
                <a:spcPts val="0"/>
              </a:spcBef>
              <a:spcAft>
                <a:spcPts val="600"/>
              </a:spcAft>
            </a:pPr>
            <a:r>
              <a:rPr sz="4400" b="1" i="0">
                <a:solidFill>
                  <a:srgbClr val="2EC4B6"/>
                </a:solidFill>
                <a:latin typeface="Calibri"/>
              </a:rPr>
              <a:t>RAMBreaker</a:t>
            </a:r>
          </a:p>
        </p:txBody>
      </p:sp>
      <p:sp>
        <p:nvSpPr>
          <p:cNvPr id="5" name="TextBox 4"/>
          <p:cNvSpPr txBox="1"/>
          <p:nvPr/>
        </p:nvSpPr>
        <p:spPr>
          <a:xfrm>
            <a:off x="914400" y="2468880"/>
            <a:ext cx="10332720" cy="914400"/>
          </a:xfrm>
          <a:prstGeom prst="rect">
            <a:avLst/>
          </a:prstGeom>
          <a:noFill/>
        </p:spPr>
        <p:txBody>
          <a:bodyPr wrap="square">
            <a:spAutoFit/>
          </a:bodyPr>
          <a:lstStyle/>
          <a:p>
            <a:pPr algn="l">
              <a:spcBef>
                <a:spcPts val="0"/>
              </a:spcBef>
              <a:spcAft>
                <a:spcPts val="600"/>
              </a:spcAft>
            </a:pPr>
            <a:r>
              <a:rPr sz="2000" b="0" i="1">
                <a:solidFill>
                  <a:srgbClr val="F2F6F7"/>
                </a:solidFill>
                <a:latin typeface="Calibri"/>
              </a:rPr>
              <a:t>One command. Any OS. From raw memory to a readable investigation.</a:t>
            </a:r>
          </a:p>
        </p:txBody>
      </p:sp>
      <p:sp>
        <p:nvSpPr>
          <p:cNvPr id="6" name="TextBox 5"/>
          <p:cNvSpPr txBox="1"/>
          <p:nvPr/>
        </p:nvSpPr>
        <p:spPr>
          <a:xfrm>
            <a:off x="914400" y="3566160"/>
            <a:ext cx="10332720" cy="2103120"/>
          </a:xfrm>
          <a:prstGeom prst="rect">
            <a:avLst/>
          </a:prstGeom>
          <a:noFill/>
        </p:spPr>
        <p:txBody>
          <a:bodyPr wrap="square">
            <a:spAutoFit/>
          </a:bodyPr>
          <a:lstStyle/>
          <a:p>
            <a:pPr>
              <a:lnSpc>
                <a:spcPct val="105000"/>
              </a:lnSpc>
              <a:spcBef>
                <a:spcPts val="0"/>
              </a:spcBef>
              <a:spcAft>
                <a:spcPts val="1200"/>
              </a:spcAft>
            </a:pPr>
            <a:r>
              <a:rPr sz="1700" b="1">
                <a:solidFill>
                  <a:srgbClr val="2EC4B6"/>
                </a:solidFill>
                <a:latin typeface="Calibri"/>
              </a:rPr>
              <a:t>✦  </a:t>
            </a:r>
            <a:r>
              <a:rPr sz="1700">
                <a:solidFill>
                  <a:srgbClr val="F2F6F7"/>
                </a:solidFill>
                <a:latin typeface="Calibri"/>
              </a:rPr>
              <a:t>Automates the hardest, most manual part of digital forensics</a:t>
            </a:r>
          </a:p>
          <a:p>
            <a:pPr>
              <a:lnSpc>
                <a:spcPct val="105000"/>
              </a:lnSpc>
              <a:spcBef>
                <a:spcPts val="0"/>
              </a:spcBef>
              <a:spcAft>
                <a:spcPts val="1200"/>
              </a:spcAft>
            </a:pPr>
            <a:r>
              <a:rPr sz="1700" b="1">
                <a:solidFill>
                  <a:srgbClr val="2EC4B6"/>
                </a:solidFill>
                <a:latin typeface="Calibri"/>
              </a:rPr>
              <a:t>✦  </a:t>
            </a:r>
            <a:r>
              <a:rPr sz="1700">
                <a:solidFill>
                  <a:srgbClr val="F2F6F7"/>
                </a:solidFill>
                <a:latin typeface="Calibri"/>
              </a:rPr>
              <a:t>Windows · Linux · macOS from a single codebase</a:t>
            </a:r>
          </a:p>
          <a:p>
            <a:pPr>
              <a:lnSpc>
                <a:spcPct val="105000"/>
              </a:lnSpc>
              <a:spcBef>
                <a:spcPts val="0"/>
              </a:spcBef>
              <a:spcAft>
                <a:spcPts val="1200"/>
              </a:spcAft>
            </a:pPr>
            <a:r>
              <a:rPr sz="1700" b="1">
                <a:solidFill>
                  <a:srgbClr val="2EC4B6"/>
                </a:solidFill>
                <a:latin typeface="Calibri"/>
              </a:rPr>
              <a:t>✦  </a:t>
            </a:r>
            <a:r>
              <a:rPr sz="1700">
                <a:solidFill>
                  <a:srgbClr val="F2F6F7"/>
                </a:solidFill>
                <a:latin typeface="Calibri"/>
              </a:rPr>
              <a:t>Evidence-first, safe-by-default, self-contained output</a:t>
            </a:r>
          </a:p>
        </p:txBody>
      </p:sp>
      <p:sp>
        <p:nvSpPr>
          <p:cNvPr id="7" name="TextBox 6"/>
          <p:cNvSpPr txBox="1"/>
          <p:nvPr/>
        </p:nvSpPr>
        <p:spPr>
          <a:xfrm>
            <a:off x="914400" y="5806440"/>
            <a:ext cx="10332720" cy="731520"/>
          </a:xfrm>
          <a:prstGeom prst="rect">
            <a:avLst/>
          </a:prstGeom>
          <a:noFill/>
        </p:spPr>
        <p:txBody>
          <a:bodyPr wrap="square">
            <a:spAutoFit/>
          </a:bodyPr>
          <a:lstStyle/>
          <a:p>
            <a:pPr algn="l">
              <a:spcBef>
                <a:spcPts val="0"/>
              </a:spcBef>
              <a:spcAft>
                <a:spcPts val="400"/>
              </a:spcAft>
            </a:pPr>
            <a:r>
              <a:rPr sz="2200" b="1" i="0">
                <a:solidFill>
                  <a:srgbClr val="E8C06A"/>
                </a:solidFill>
                <a:latin typeface="Calibri"/>
              </a:rPr>
              <a:t>Thank you  ·  Questions?</a:t>
            </a:r>
          </a:p>
          <a:p>
            <a:pPr algn="l">
              <a:spcBef>
                <a:spcPts val="0"/>
              </a:spcBef>
              <a:spcAft>
                <a:spcPts val="400"/>
              </a:spcAft>
            </a:pPr>
            <a:r>
              <a:rPr sz="1300" b="0" i="0">
                <a:solidFill>
                  <a:srgbClr val="A9BABE"/>
                </a:solidFill>
                <a:latin typeface="Calibri"/>
              </a:rPr>
              <a:t>Ahmad Anasweh</a:t>
            </a:r>
          </a:p>
        </p:txBody>
      </p:sp>
      <p:sp>
        <p:nvSpPr>
          <p:cNvPr id="8" name="TextBox 7"/>
          <p:cNvSpPr txBox="1"/>
          <p:nvPr/>
        </p:nvSpPr>
        <p:spPr>
          <a:xfrm>
            <a:off x="11247120" y="6355080"/>
            <a:ext cx="82296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