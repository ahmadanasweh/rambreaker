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energy — this is a problem/solution talk, so start by promising to name the audience's own pain.</a:t>
            </a:r>
          </a:p>
          <a:p/>
          <a:p>
            <a:r>
              <a:t>Say: 'I'm not going to open with features. I'm going to open with pain — the specific moments in memory forensics where you want to throw your laptop. If you've done any DFIR, CTF, or malware work, at least half of these will feel personal. And for each one, I'll show you exactly how RAMBreaker makes it go away.'</a:t>
            </a:r>
          </a:p>
          <a:p/>
          <a:p>
            <a:r>
              <a:t>Keep it to 20 seconds. Then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tension-builder. Read a few of these out loud, fast, like a list of grievances — get people nodding.</a:t>
            </a:r>
          </a:p>
          <a:p/>
          <a:p>
            <a:r>
              <a:t>Say: 'Have you ever spent the first half hour just figuring out what the image even is? Hit a Linux image with no symbols anywhere? Been told the report's due in two hours? Been stuck in a CTF at 3am running plugin after plugin? Juggled a dozen tools and glued the output together by hand? Had a tool cry malware at something totally legit?'</a:t>
            </a:r>
          </a:p>
          <a:p/>
          <a:p>
            <a:r>
              <a:t>Pause, then: 'If any of those hurt, stay with me — I'll take them one at a time.'</a:t>
            </a:r>
          </a:p>
          <a:p/>
          <a:p>
            <a:r>
              <a:t>The goal here is recognition, not detail. Don't explain anything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pain everyone knows.</a:t>
            </a:r>
          </a:p>
          <a:p/>
          <a:p>
            <a:r>
              <a:t>Say: 'Before you analyze anything you have to answer boring questions: is it Volatility 2 or 3, is it Windows, Linux, or Mac, and which profile? And here's the trap — Volatility often exits with a success code even when the plugin failed, so a wrong guess wastes time and lies to you about it.'</a:t>
            </a:r>
          </a:p>
          <a:p/>
          <a:p>
            <a:r>
              <a:t>Fix: 'RAMBreaker detects the OS automatically with a cascade — a fast broad scan first, then progressively more certain methods, down to a raw-byte scan as a last resort. It picks the engine and the right plugin set itself. You point it at the file and the guessing game is over.'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headline example — spend real time here. It's the pain most tools never solve.</a:t>
            </a:r>
          </a:p>
          <a:p/>
          <a:p>
            <a:r>
              <a:t>Say: 'This is the one that stops people cold. On Linux, Volatility 3 needs a symbol file that exactly matches the target kernel. If the community repo doesn't have your kernel — a custom build, a patched Debian, an obscure distro — most workflows just stop. Building it by hand means chasing debug packages and running dwarf2json, and that's an afternoon gone.'</a:t>
            </a:r>
          </a:p>
          <a:p/>
          <a:p>
            <a:r>
              <a:t>Fix, walk it slowly: 'RAMBreaker reads the kernel banner right out of the image, downloads the matching symbols with a mirror fallback, and if only a close kernel exists it byte-patches the symbol file so the banner matches exactly. And if nothing exists anywhere, it will BUILD the symbols itself from Debian or Red Hat debug packages using dwarf2json — then verify they actually work by running a raw process scan. That's the difference between a tool that works in your lab and one that works on a kernel you've never seen.'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time-pressure pain — hits every working responder.</a:t>
            </a:r>
          </a:p>
          <a:p/>
          <a:p>
            <a:r>
              <a:t>Say: 'Real DFIR runs on a clock. You get an image and someone needs answers by lunch. Doing it by hand means triaging processes, network, malware, persistence, and a timeline — and THEN writing it all up so a human can read it. Two hours are gone before you have a story.'</a:t>
            </a:r>
          </a:p>
          <a:p/>
          <a:p>
            <a:r>
              <a:t>Fix: 'One command runs the whole eight-stage pipeline in minutes, correlates it into a single timeline, maps it to MITRE ATT&amp;CK, and produces a self-contained HTML report you can hand straight to your lead or your client. A 2 GB Windows image comes back in about four minutes. The clock stops being the enemy.'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your audience — CTF players will love this one. Lighten the tone.</a:t>
            </a:r>
          </a:p>
          <a:p/>
          <a:p>
            <a:r>
              <a:t>Say: 'Anyone who's played a memory-forensics CTF knows the 3am grind: run a plugin, scroll, run another, where is the flag. RAMBreaker has a CTF mode that runs the fast, plugin-derived analysis and skips the slow strings pass you rarely need under time pressure. And when you're hunting a specific flag, String Hunt runs a live YARA search straight through memory and tells you the PID, the process name, the address, and the surrounding context — you can even scope it to one process. Plus the 11-tab report lets you take in the whole box in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'death by a thousand tools' pain.</a:t>
            </a:r>
          </a:p>
          <a:p/>
          <a:p>
            <a:r>
              <a:t>Say: 'Traditional memory forensics is tool sprawl — strings in one tab, YARA in another, process list here, network there, and a notepad where you try to connect it all. The correlation only exists in your head, and if you're tired at hour six you miss the link that mattered.'</a:t>
            </a:r>
          </a:p>
          <a:p/>
          <a:p>
            <a:r>
              <a:t>Fix: 'RAMBreaker makes one pass over the image and extracts indicators, browser activity, and chat-app traces together, then correlates processes to connections to files to commands automatically. The relationships are drawn for you. Instead of twelve tabs and a notepad, you get one report that already tells the 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Mac/Apple-shop crowd — shows depth and original work.</a:t>
            </a:r>
          </a:p>
          <a:p/>
          <a:p>
            <a:r>
              <a:t>Say: 'macOS is where most memory tools get thin. Try to recover actual file contents and you find the stock plugins only give you names, not bytes — and the built-in file-lister literally crashes with a recursion error on deep directory trees.'</a:t>
            </a:r>
          </a:p>
          <a:p/>
          <a:p>
            <a:r>
              <a:t>Fix: 'So RAMBreaker ships its own plugins. One recovers real file content out of macOS's Unified Buffer Cache — actual bytes, not just a listing. The other is a rewritten, iterative file-lister that doesn't blow the stack. Both are bundled with the toolkit and are re-applied automatically even if you reinstall Volatility from scratch. macOS stops being the weak link.'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targeted-search pain — pairs naturally with the CTF slide but stands alone.</a:t>
            </a:r>
          </a:p>
          <a:p/>
          <a:p>
            <a:r>
              <a:t>Say: 'Sometimes you don't need everything — you need one string, now. Where does "mimikatz" or a specific token or a flag actually live? If you just grep raw strings you lose the context: you get an offset, not a process. And blindly scanning a 4 GB image is slow.'</a:t>
            </a:r>
          </a:p>
          <a:p/>
          <a:p>
            <a:r>
              <a:t>Fix: 'String Hunt runs a YARA search live in memory and hands you the process ID, the process name, the address, and the surrounding bytes for every hit — and you can restrict it to specific processes, with no dumping first. In testing it found 123 hits in about three seconds across two processes. It turns a needle-in-a-haystack into a targeted lookup.'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persistence pain — resonates with anyone hunting how a threat stayed.</a:t>
            </a:r>
          </a:p>
          <a:p/>
          <a:p>
            <a:r>
              <a:t>Say: 'Persistence is where attackers hide how they survive a reboot, and every operating system hides it somewhere different — cron and systemd on Linux, launch agents on macOS, scheduled tasks and a dozen registry run keys on Windows. Checking all of them by hand is tedious, and tedium is exactly where you miss the one that mattered.'</a:t>
            </a:r>
          </a:p>
          <a:p/>
          <a:p>
            <a:r>
              <a:t>Fix: 'RAMBreaker has one scanner that covers all of them — Windows scheduled tasks, Linux cron, at, and systemd, macOS launchd, plus the Windows registry persistence keys — and surfaces them together in a single view. Nothing to remember, nothing to miss.'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insider/comms-investigation pain — good for the corporate/legal crowd.</a:t>
            </a:r>
          </a:p>
          <a:p/>
          <a:p>
            <a:r>
              <a:t>Say: 'A lot of investigations come down to a simple question: did this person use a particular chat app? Proving it by hand means hunting tokens and URLs across millions of strings, and telling a genuine token from a random base64 blob is genuinely hard — and a false "stolen token" claim will sink your credibility in a report.'</a:t>
            </a:r>
          </a:p>
          <a:p/>
          <a:p>
            <a:r>
              <a:t>Fix: 'RAMBreaker's comms scanner recognizes over a dozen apps — Teams, Discord, Zoom, Slack, Telegram, WhatsApp, Signal, and more — and it validates what it finds, for example decoding a Discord token's snowflake ID before it calls it real. Then it correlates those artifacts with the running processes and the network connections, so you get evidence you can actually stand behind.'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credibility/maturity pain — this slide sets the tool apart from noisy scanners.</a:t>
            </a:r>
          </a:p>
          <a:p/>
          <a:p>
            <a:r>
              <a:t>Say: 'We've all used a tool that cries wolf — it screams malware at a legit process, you burn an hour proving it wrong, and you stop trusting the tool. Worse, an automated "this is evil" verdict rarely survives cross-examination in a real case.'</a:t>
            </a:r>
          </a:p>
          <a:p/>
          <a:p>
            <a:r>
              <a:t>Fix: 'RAMBreaker is built on one rule: evidence, not verdicts. It surfaces observations — this process has an unexpected parent, this one ran from a temp folder — and leaves the conclusion to you, the analyst. Its indicator patterns are context-anchored to avoid the false positives naive regex produces, and it redacts password hashes by default while keeping the raw data in the JSON for when you need it. It's transparent, reproducible, and it holds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reporting/handoff pain — resonates with team leads and consultants.</a:t>
            </a:r>
          </a:p>
          <a:p/>
          <a:p>
            <a:r>
              <a:t>Say: 'Your analysis is only worth what someone can consume. If all you can hand over is raw JSON and terminal output, a manager, a lawyer, or a client gets nothing from it — and stitching screenshots into a doc is a mess.'</a:t>
            </a:r>
          </a:p>
          <a:p/>
          <a:p>
            <a:r>
              <a:t>Fix: 'RAMBreaker's main deliverable is a single self-contained HTML report — eleven tabs, opens offline in any browser, nothing to install. It has a global search that highlights a term across every tab at once, so anyone can explore it. You just attach it and send it. And the technical folks still get the structured JSON, a timeline CSV, and SIEM-ready exports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environment/edge-case pain — shows the tool survives the real world, not just demos.</a:t>
            </a:r>
          </a:p>
          <a:p/>
          <a:p>
            <a:r>
              <a:t>Say: 'And before you analyze anything, there's the setup tax — Volatility 2, Volatility 3, symbol packs, Python dependencies. Then the landmines: Vol3 reports success even when it failed, the first symbol-cache build can stall forever under a fixed timeout, and a bare VMware .vmem quietly returns zero processes if its companion snapshot file is missing.'</a:t>
            </a:r>
          </a:p>
          <a:p/>
          <a:p>
            <a:r>
              <a:t>Fix: 'RAMBreaker ships an installer that sets the whole environment up. And it's hardened against every one of those landmines — it validates results so the exit-0 bug can't fool it, it warms the cache with a progress-aware runner instead of a fixed timeout, it falls back from the process list to the process tree when needed, and it tells you outright when a .vmem needs its companion file. It's built from actually running it on dozens of real images and fixing what broke.'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slide — read it like a victory lap, fast.</a:t>
            </a:r>
          </a:p>
          <a:p/>
          <a:p>
            <a:r>
              <a:t>Say: 'So let's tally it up. Every headache we started with — guessing the OS and engine, a missing Linux ISF, the two-hour deadline, the 3am CTF grind, a dozen tools by hand, macOS file recovery, finding one string in gigabytes, persistence across three operating systems, proving chat-app use, tools that cry wolf, the handoff to non-technical people, and the setup landmines — every one of them, handled.'</a:t>
            </a:r>
          </a:p>
          <a:p/>
          <a:p>
            <a:r>
              <a:t>Then: 'That's the whole pitch. It takes the parts of memory forensics that make you want to quit, and it just does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and invite engagement.</a:t>
            </a:r>
          </a:p>
          <a:p/>
          <a:p>
            <a:r>
              <a:t>Say: 'That's RAMBreaker — it takes every "have you ever" we opened with and turns it into "never again." One command, all three operating systems, from a raw memory image to a report anyone can read. Thank you — I'm happy to take questions, or to run it live on a real image right now if you want to see any of these in action.'</a:t>
            </a:r>
          </a:p>
          <a:p/>
          <a:p>
            <a:r>
              <a:t>Be ready for: 'How is this different from just scripting Volatility?' — Answer: it orchestrates Volatility, but the value is everything Volatility leaves to you — automatic OS detection, automatic (and buildable) symbols, correlation, and reporting. 'Is it accurate?' — It surfaces evidence and lets the analyst conclude, which is exactly why it's trustworthy. 'Can attackers fool it?' — Anti-forensics exists; that's why it shows raw evidence instead of verdicts.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1280160"/>
          </a:xfrm>
          <a:prstGeom prst="rect">
            <a:avLst/>
          </a:prstGeom>
          <a:noFill/>
        </p:spPr>
        <p:txBody>
          <a:bodyPr wrap="square">
            <a:spAutoFit/>
          </a:bodyPr>
          <a:lstStyle/>
          <a:p>
            <a:pPr algn="l">
              <a:spcBef>
                <a:spcPts val="0"/>
              </a:spcBef>
              <a:spcAft>
                <a:spcPts val="600"/>
              </a:spcAft>
            </a:pPr>
            <a:r>
              <a:rPr sz="6000" b="1" i="0">
                <a:solidFill>
                  <a:srgbClr val="F2F6F7"/>
                </a:solidFill>
                <a:latin typeface="Calibri"/>
              </a:rPr>
              <a:t>Have you ever…?</a:t>
            </a:r>
          </a:p>
        </p:txBody>
      </p:sp>
      <p:sp>
        <p:nvSpPr>
          <p:cNvPr id="5" name="TextBox 4"/>
          <p:cNvSpPr txBox="1"/>
          <p:nvPr/>
        </p:nvSpPr>
        <p:spPr>
          <a:xfrm>
            <a:off x="932688" y="3063240"/>
            <a:ext cx="10332720" cy="914400"/>
          </a:xfrm>
          <a:prstGeom prst="rect">
            <a:avLst/>
          </a:prstGeom>
          <a:noFill/>
        </p:spPr>
        <p:txBody>
          <a:bodyPr wrap="square">
            <a:spAutoFit/>
          </a:bodyPr>
          <a:lstStyle/>
          <a:p>
            <a:pPr algn="l">
              <a:spcBef>
                <a:spcPts val="0"/>
              </a:spcBef>
              <a:spcAft>
                <a:spcPts val="600"/>
              </a:spcAft>
            </a:pPr>
            <a:r>
              <a:rPr sz="2200" b="0" i="0">
                <a:solidFill>
                  <a:srgbClr val="B2C1C5"/>
                </a:solidFill>
                <a:latin typeface="Calibri"/>
              </a:rPr>
              <a:t>Every memory-forensics headache that </a:t>
            </a:r>
          </a:p>
        </p:txBody>
      </p:sp>
      <p:sp>
        <p:nvSpPr>
          <p:cNvPr id="6" name="TextBox 5"/>
          <p:cNvSpPr txBox="1"/>
          <p:nvPr/>
        </p:nvSpPr>
        <p:spPr>
          <a:xfrm>
            <a:off x="932688" y="3474720"/>
            <a:ext cx="10332720" cy="914400"/>
          </a:xfrm>
          <a:prstGeom prst="rect">
            <a:avLst/>
          </a:prstGeom>
          <a:noFill/>
        </p:spPr>
        <p:txBody>
          <a:bodyPr wrap="square">
            <a:spAutoFit/>
          </a:bodyPr>
          <a:lstStyle/>
          <a:p>
            <a:pPr algn="l">
              <a:spcBef>
                <a:spcPts val="0"/>
              </a:spcBef>
              <a:spcAft>
                <a:spcPts val="600"/>
              </a:spcAft>
            </a:pPr>
            <a:r>
              <a:rPr sz="4000" b="1" i="0">
                <a:solidFill>
                  <a:srgbClr val="2EC4B6"/>
                </a:solidFill>
                <a:latin typeface="Calibri"/>
              </a:rPr>
              <a:t>RAMBreaker</a:t>
            </a:r>
          </a:p>
          <a:p>
            <a:pPr algn="l">
              <a:spcBef>
                <a:spcPts val="0"/>
              </a:spcBef>
              <a:spcAft>
                <a:spcPts val="600"/>
              </a:spcAft>
            </a:pPr>
            <a:r>
              <a:rPr sz="2600" b="0" i="0">
                <a:solidFill>
                  <a:srgbClr val="F2F6F7"/>
                </a:solidFill>
                <a:latin typeface="Calibri"/>
              </a:rPr>
              <a:t>  was built to kill.</a:t>
            </a:r>
          </a:p>
        </p:txBody>
      </p:sp>
      <p:sp>
        <p:nvSpPr>
          <p:cNvPr id="7" name="Rectangle 6"/>
          <p:cNvSpPr/>
          <p:nvPr/>
        </p:nvSpPr>
        <p:spPr>
          <a:xfrm>
            <a:off x="950976" y="4892040"/>
            <a:ext cx="3108960" cy="41148"/>
          </a:xfrm>
          <a:prstGeom prst="rect">
            <a:avLst/>
          </a:prstGeom>
          <a:solidFill>
            <a:srgbClr val="E8C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74920"/>
            <a:ext cx="10332720" cy="914400"/>
          </a:xfrm>
          <a:prstGeom prst="rect">
            <a:avLst/>
          </a:prstGeom>
          <a:noFill/>
        </p:spPr>
        <p:txBody>
          <a:bodyPr wrap="square">
            <a:spAutoFit/>
          </a:bodyPr>
          <a:lstStyle/>
          <a:p>
            <a:pPr algn="l">
              <a:spcBef>
                <a:spcPts val="0"/>
              </a:spcBef>
              <a:spcAft>
                <a:spcPts val="400"/>
              </a:spcAft>
            </a:pPr>
            <a:r>
              <a:rPr sz="1600" b="1" i="0">
                <a:solidFill>
                  <a:srgbClr val="F2F6F7"/>
                </a:solidFill>
                <a:latin typeface="Calibri"/>
              </a:rPr>
              <a:t>RAM Forensics Toolkit v6.2  ·  Ahmad Anasweh</a:t>
            </a:r>
          </a:p>
          <a:p>
            <a:pPr algn="l">
              <a:spcBef>
                <a:spcPts val="0"/>
              </a:spcBef>
              <a:spcAft>
                <a:spcPts val="400"/>
              </a:spcAft>
            </a:pPr>
            <a:r>
              <a:rPr sz="1200" b="0" i="0">
                <a:solidFill>
                  <a:srgbClr val="7C9298"/>
                </a:solidFill>
                <a:latin typeface="Calibri"/>
              </a:rPr>
              <a:t>Windows · Linux · macOS  —  one command, one report</a:t>
            </a:r>
          </a:p>
        </p:txBody>
      </p:sp>
      <p:sp>
        <p:nvSpPr>
          <p:cNvPr id="9" name="TextBox 8"/>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457200"/>
            <a:ext cx="10058400" cy="457200"/>
          </a:xfrm>
          <a:prstGeom prst="rect">
            <a:avLst/>
          </a:prstGeom>
          <a:noFill/>
        </p:spPr>
        <p:txBody>
          <a:bodyPr wrap="square">
            <a:spAutoFit/>
          </a:bodyPr>
          <a:lstStyle/>
          <a:p>
            <a:pPr algn="l">
              <a:spcBef>
                <a:spcPts val="0"/>
              </a:spcBef>
              <a:spcAft>
                <a:spcPts val="600"/>
              </a:spcAft>
            </a:pPr>
            <a:r>
              <a:rPr sz="1500" b="1" i="0">
                <a:solidFill>
                  <a:srgbClr val="F07A5E"/>
                </a:solidFill>
                <a:latin typeface="Calibri"/>
              </a:rPr>
              <a:t>SOUND FAMILIAR?</a:t>
            </a:r>
          </a:p>
        </p:txBody>
      </p:sp>
      <p:sp>
        <p:nvSpPr>
          <p:cNvPr id="4" name="TextBox 3"/>
          <p:cNvSpPr txBox="1"/>
          <p:nvPr/>
        </p:nvSpPr>
        <p:spPr>
          <a:xfrm>
            <a:off x="685800" y="1280160"/>
            <a:ext cx="10881360" cy="4572000"/>
          </a:xfrm>
          <a:prstGeom prst="rect">
            <a:avLst/>
          </a:prstGeom>
          <a:noFill/>
        </p:spPr>
        <p:txBody>
          <a:bodyPr wrap="square">
            <a:spAutoFit/>
          </a:bodyPr>
          <a:lstStyle/>
          <a:p>
            <a:pPr>
              <a:spcAft>
                <a:spcPts val="1500"/>
              </a:spcAft>
            </a:pPr>
            <a:r>
              <a:rPr b="1" sz="1900">
                <a:solidFill>
                  <a:srgbClr val="E8C06A"/>
                </a:solidFill>
                <a:latin typeface="Calibri"/>
              </a:rPr>
              <a:t>Have you ever  </a:t>
            </a:r>
            <a:r>
              <a:rPr sz="1900">
                <a:solidFill>
                  <a:srgbClr val="F2F6F7"/>
                </a:solidFill>
                <a:latin typeface="Calibri"/>
              </a:rPr>
              <a:t>…spent the first 30 minutes just guessing Vol2 or Vol3, Windows or Linux?</a:t>
            </a:r>
          </a:p>
          <a:p>
            <a:pPr>
              <a:spcAft>
                <a:spcPts val="1500"/>
              </a:spcAft>
            </a:pPr>
            <a:r>
              <a:rPr b="1" sz="1900">
                <a:solidFill>
                  <a:srgbClr val="E8C06A"/>
                </a:solidFill>
                <a:latin typeface="Calibri"/>
              </a:rPr>
              <a:t>Have you ever  </a:t>
            </a:r>
            <a:r>
              <a:rPr sz="1900">
                <a:solidFill>
                  <a:srgbClr val="F2F6F7"/>
                </a:solidFill>
                <a:latin typeface="Calibri"/>
              </a:rPr>
              <a:t>…hit a Linux image whose kernel has no ISF built anywhere?</a:t>
            </a:r>
          </a:p>
          <a:p>
            <a:pPr>
              <a:spcAft>
                <a:spcPts val="1500"/>
              </a:spcAft>
            </a:pPr>
            <a:r>
              <a:rPr b="1" sz="1900">
                <a:solidFill>
                  <a:srgbClr val="E8C06A"/>
                </a:solidFill>
                <a:latin typeface="Calibri"/>
              </a:rPr>
              <a:t>Have you ever  </a:t>
            </a:r>
            <a:r>
              <a:rPr sz="1900">
                <a:solidFill>
                  <a:srgbClr val="F2F6F7"/>
                </a:solidFill>
                <a:latin typeface="Calibri"/>
              </a:rPr>
              <a:t>…been told the DFIR report is due in two hours?</a:t>
            </a:r>
          </a:p>
          <a:p>
            <a:pPr>
              <a:spcAft>
                <a:spcPts val="1500"/>
              </a:spcAft>
            </a:pPr>
            <a:r>
              <a:rPr b="1" sz="1900">
                <a:solidFill>
                  <a:srgbClr val="E8C06A"/>
                </a:solidFill>
                <a:latin typeface="Calibri"/>
              </a:rPr>
              <a:t>Have you ever  </a:t>
            </a:r>
            <a:r>
              <a:rPr sz="1900">
                <a:solidFill>
                  <a:srgbClr val="F2F6F7"/>
                </a:solidFill>
                <a:latin typeface="Calibri"/>
              </a:rPr>
              <a:t>…been stuck in a CTF at 3am, running plugin after plugin for one flag?</a:t>
            </a:r>
          </a:p>
          <a:p>
            <a:pPr>
              <a:spcAft>
                <a:spcPts val="1500"/>
              </a:spcAft>
            </a:pPr>
            <a:r>
              <a:rPr b="1" sz="1900">
                <a:solidFill>
                  <a:srgbClr val="E8C06A"/>
                </a:solidFill>
                <a:latin typeface="Calibri"/>
              </a:rPr>
              <a:t>Have you ever  </a:t>
            </a:r>
            <a:r>
              <a:rPr sz="1900">
                <a:solidFill>
                  <a:srgbClr val="F2F6F7"/>
                </a:solidFill>
                <a:latin typeface="Calibri"/>
              </a:rPr>
              <a:t>…juggled a dozen tools and stitched the output together by hand?</a:t>
            </a:r>
          </a:p>
          <a:p>
            <a:pPr>
              <a:spcAft>
                <a:spcPts val="1500"/>
              </a:spcAft>
            </a:pPr>
            <a:r>
              <a:rPr b="1" sz="1900">
                <a:solidFill>
                  <a:srgbClr val="E8C06A"/>
                </a:solidFill>
                <a:latin typeface="Calibri"/>
              </a:rPr>
              <a:t>Have you ever  </a:t>
            </a:r>
            <a:r>
              <a:rPr sz="1900">
                <a:solidFill>
                  <a:srgbClr val="F2F6F7"/>
                </a:solidFill>
                <a:latin typeface="Calibri"/>
              </a:rPr>
              <a:t>…had a tool scream 'MALWARE!' at a perfectly legit process?</a:t>
            </a:r>
          </a:p>
        </p:txBody>
      </p:sp>
      <p:sp>
        <p:nvSpPr>
          <p:cNvPr id="5" name="TextBox 4"/>
          <p:cNvSpPr txBox="1"/>
          <p:nvPr/>
        </p:nvSpPr>
        <p:spPr>
          <a:xfrm>
            <a:off x="685800" y="5806440"/>
            <a:ext cx="10881360" cy="731520"/>
          </a:xfrm>
          <a:prstGeom prst="rect">
            <a:avLst/>
          </a:prstGeom>
          <a:noFill/>
        </p:spPr>
        <p:txBody>
          <a:bodyPr wrap="square">
            <a:spAutoFit/>
          </a:bodyPr>
          <a:lstStyle/>
          <a:p>
            <a:pPr algn="l">
              <a:spcBef>
                <a:spcPts val="0"/>
              </a:spcBef>
              <a:spcAft>
                <a:spcPts val="600"/>
              </a:spcAft>
            </a:pPr>
            <a:r>
              <a:rPr sz="1700" b="1" i="1">
                <a:solidFill>
                  <a:srgbClr val="2EC4B6"/>
                </a:solidFill>
                <a:latin typeface="Calibri"/>
              </a:rPr>
              <a:t>If any of these hurt — the next few minutes are for you.</a:t>
            </a:r>
          </a:p>
        </p:txBody>
      </p:sp>
      <p:sp>
        <p:nvSpPr>
          <p:cNvPr id="6" name="TextBox 5"/>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01 · TRIAGE</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wasted the first 30 minutes just figuring out what the image IS?</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Vol2 or Vol3? Windows, Linux, or macOS? Which profile?</a:t>
            </a:r>
          </a:p>
          <a:p>
            <a:pPr>
              <a:lnSpc>
                <a:spcPct val="103000"/>
              </a:lnSpc>
              <a:spcAft>
                <a:spcPts val="1100"/>
              </a:spcAft>
            </a:pPr>
            <a:r>
              <a:rPr sz="1400" b="1">
                <a:solidFill>
                  <a:srgbClr val="F07A5E"/>
                </a:solidFill>
                <a:latin typeface="Calibri"/>
              </a:rPr>
              <a:t>✕  </a:t>
            </a:r>
            <a:r>
              <a:rPr sz="1400">
                <a:solidFill>
                  <a:srgbClr val="B2C1C5"/>
                </a:solidFill>
                <a:latin typeface="Calibri"/>
              </a:rPr>
              <a:t>Guess wrong and every plugin fails — silently, with rc=0.</a:t>
            </a:r>
          </a:p>
          <a:p>
            <a:pPr>
              <a:lnSpc>
                <a:spcPct val="103000"/>
              </a:lnSpc>
              <a:spcAft>
                <a:spcPts val="1100"/>
              </a:spcAft>
            </a:pPr>
            <a:r>
              <a:rPr sz="1400" b="1">
                <a:solidFill>
                  <a:srgbClr val="F07A5E"/>
                </a:solidFill>
                <a:latin typeface="Calibri"/>
              </a:rPr>
              <a:t>✕  </a:t>
            </a:r>
            <a:r>
              <a:rPr sz="1400">
                <a:solidFill>
                  <a:srgbClr val="B2C1C5"/>
                </a:solidFill>
                <a:latin typeface="Calibri"/>
              </a:rPr>
              <a:t>You burn time before the real analysis even starts.</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Auto-detects the OS with a 5-step cascade: a raw-byte format pre-check (which short-circuits straight to Vol3 for Linux/macOS) → banners → windows.info → imageinfo → raw-byte scan.</a:t>
            </a:r>
            <a:r>
              <a:rPr sz="1400">
                <a:solidFill>
                  <a:srgbClr val="F2F6F7"/>
                </a:solidFill>
                <a:latin typeface="Calibri"/>
              </a:rPr>
              <a:t/>
            </a:r>
          </a:p>
          <a:p>
            <a:pPr>
              <a:lnSpc>
                <a:spcPct val="103000"/>
              </a:lnSpc>
              <a:spcAft>
                <a:spcPts val="1100"/>
              </a:spcAft>
            </a:pPr>
            <a:r>
              <a:rPr sz="1400" b="1">
                <a:solidFill>
                  <a:srgbClr val="2EC4B6"/>
                </a:solidFill>
                <a:latin typeface="Calibri"/>
              </a:rPr>
              <a:t>✓  </a:t>
            </a:r>
            <a:r>
              <a:rPr sz="1400">
                <a:solidFill>
                  <a:srgbClr val="F2F6F7"/>
                </a:solidFill>
                <a:latin typeface="Calibri"/>
              </a:rPr>
              <a:t>Picks the engine, OS, and plugin set for you.</a:t>
            </a:r>
          </a:p>
          <a:p>
            <a:pPr>
              <a:lnSpc>
                <a:spcPct val="103000"/>
              </a:lnSpc>
              <a:spcAft>
                <a:spcPts val="1100"/>
              </a:spcAft>
            </a:pPr>
            <a:r>
              <a:rPr sz="1400" b="1">
                <a:solidFill>
                  <a:srgbClr val="2EC4B6"/>
                </a:solidFill>
                <a:latin typeface="Calibri"/>
              </a:rPr>
              <a:t>✓  </a:t>
            </a:r>
            <a:r>
              <a:rPr sz="1400">
                <a:solidFill>
                  <a:srgbClr val="F2F6F7"/>
                </a:solidFill>
                <a:latin typeface="Calibri"/>
              </a:rPr>
              <a:t>You just point it at the file — it figures out the rest.</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02 · LINUX SYMBOLS</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hit a Linux image whose kernel has NO ISF built yet?</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Vol3 needs a symbol file that byte-matches the exact kernel.</a:t>
            </a:r>
          </a:p>
          <a:p>
            <a:pPr>
              <a:lnSpc>
                <a:spcPct val="103000"/>
              </a:lnSpc>
              <a:spcAft>
                <a:spcPts val="1100"/>
              </a:spcAft>
            </a:pPr>
            <a:r>
              <a:rPr sz="1400" b="1">
                <a:solidFill>
                  <a:srgbClr val="F07A5E"/>
                </a:solidFill>
                <a:latin typeface="Calibri"/>
              </a:rPr>
              <a:t>✕  The community repo doesn't have yours — too new, too old, or custom-built.</a:t>
            </a:r>
            <a:r>
              <a:rPr sz="1400">
                <a:solidFill>
                  <a:srgbClr val="B2C1C5"/>
                </a:solidFill>
                <a:latin typeface="Calibri"/>
              </a:rPr>
              <a:t/>
            </a:r>
          </a:p>
          <a:p>
            <a:pPr>
              <a:lnSpc>
                <a:spcPct val="103000"/>
              </a:lnSpc>
              <a:spcAft>
                <a:spcPts val="1100"/>
              </a:spcAft>
            </a:pPr>
            <a:r>
              <a:rPr sz="1400" b="1">
                <a:solidFill>
                  <a:srgbClr val="F07A5E"/>
                </a:solidFill>
                <a:latin typeface="Calibri"/>
              </a:rPr>
              <a:t>✕  </a:t>
            </a:r>
            <a:r>
              <a:rPr sz="1400">
                <a:solidFill>
                  <a:srgbClr val="B2C1C5"/>
                </a:solidFill>
                <a:latin typeface="Calibri"/>
              </a:rPr>
              <a:t>Building it by hand = debug packages + dwarf2json + hours of yak-shaving.</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Reads the kernel banner straight from the image.</a:t>
            </a:r>
          </a:p>
          <a:p>
            <a:pPr>
              <a:lnSpc>
                <a:spcPct val="103000"/>
              </a:lnSpc>
              <a:spcAft>
                <a:spcPts val="1100"/>
              </a:spcAft>
            </a:pPr>
            <a:r>
              <a:rPr sz="1400" b="1">
                <a:solidFill>
                  <a:srgbClr val="2EC4B6"/>
                </a:solidFill>
                <a:latin typeface="Calibri"/>
              </a:rPr>
              <a:t>✓  </a:t>
            </a:r>
            <a:r>
              <a:rPr sz="1400">
                <a:solidFill>
                  <a:srgbClr val="F2F6F7"/>
                </a:solidFill>
                <a:latin typeface="Calibri"/>
              </a:rPr>
              <a:t>Downloads the match (with a CDN mirror fallback).</a:t>
            </a:r>
          </a:p>
          <a:p>
            <a:pPr>
              <a:lnSpc>
                <a:spcPct val="103000"/>
              </a:lnSpc>
              <a:spcAft>
                <a:spcPts val="1100"/>
              </a:spcAft>
            </a:pPr>
            <a:r>
              <a:rPr sz="1400" b="1">
                <a:solidFill>
                  <a:srgbClr val="2EC4B6"/>
                </a:solidFill>
                <a:latin typeface="Calibri"/>
              </a:rPr>
              <a:t>✓  </a:t>
            </a:r>
            <a:r>
              <a:rPr sz="1400">
                <a:solidFill>
                  <a:srgbClr val="F2F6F7"/>
                </a:solidFill>
                <a:latin typeface="Calibri"/>
              </a:rPr>
              <a:t>Only a close kernel? It byte-patches the banner to match, then re-verifies.</a:t>
            </a:r>
          </a:p>
          <a:p>
            <a:pPr>
              <a:lnSpc>
                <a:spcPct val="103000"/>
              </a:lnSpc>
              <a:spcAft>
                <a:spcPts val="1100"/>
              </a:spcAft>
            </a:pPr>
            <a:r>
              <a:rPr sz="1400" b="1">
                <a:solidFill>
                  <a:srgbClr val="2EC4B6"/>
                </a:solidFill>
                <a:latin typeface="Calibri"/>
              </a:rPr>
              <a:t>✓  Nothing published? It rebuilds the ISF from the BTF inside the image — offline, exact, no download (kernels ~5.8+).
✓  No BTF? Falls back to a Debian ddeb / RHEL RPM build — then confirms with psscan.</a:t>
            </a:r>
            <a:r>
              <a:rPr sz="1400">
                <a:solidFill>
                  <a:srgbClr val="F2F6F7"/>
                </a:solidFill>
                <a:latin typeface="Calibri"/>
              </a:rPr>
              <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03 · DFIR CLOCK</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been handed an image and told 'we need the report by lunch'?</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Manual triage across processes, network, malware, persistence, timeline…</a:t>
            </a:r>
          </a:p>
          <a:p>
            <a:pPr>
              <a:lnSpc>
                <a:spcPct val="103000"/>
              </a:lnSpc>
              <a:spcAft>
                <a:spcPts val="1100"/>
              </a:spcAft>
            </a:pPr>
            <a:r>
              <a:rPr sz="1400" b="1">
                <a:solidFill>
                  <a:srgbClr val="F07A5E"/>
                </a:solidFill>
                <a:latin typeface="Calibri"/>
              </a:rPr>
              <a:t>✕  </a:t>
            </a:r>
            <a:r>
              <a:rPr sz="1400">
                <a:solidFill>
                  <a:srgbClr val="B2C1C5"/>
                </a:solidFill>
                <a:latin typeface="Calibri"/>
              </a:rPr>
              <a:t>…then you still have to WRITE IT UP for someone to read.</a:t>
            </a:r>
          </a:p>
          <a:p>
            <a:pPr>
              <a:lnSpc>
                <a:spcPct val="103000"/>
              </a:lnSpc>
              <a:spcAft>
                <a:spcPts val="1100"/>
              </a:spcAft>
            </a:pPr>
            <a:r>
              <a:rPr sz="1400" b="1">
                <a:solidFill>
                  <a:srgbClr val="F07A5E"/>
                </a:solidFill>
                <a:latin typeface="Calibri"/>
              </a:rPr>
              <a:t>✕  </a:t>
            </a:r>
            <a:r>
              <a:rPr sz="1400">
                <a:solidFill>
                  <a:srgbClr val="B2C1C5"/>
                </a:solidFill>
                <a:latin typeface="Calibri"/>
              </a:rPr>
              <a:t>Two hours evaporate and you've barely started the narrative.</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One command runs the full 8-step pipeline in minutes.</a:t>
            </a:r>
          </a:p>
          <a:p>
            <a:pPr>
              <a:lnSpc>
                <a:spcPct val="103000"/>
              </a:lnSpc>
              <a:spcAft>
                <a:spcPts val="1100"/>
              </a:spcAft>
            </a:pPr>
            <a:r>
              <a:rPr sz="1400" b="1">
                <a:solidFill>
                  <a:srgbClr val="2EC4B6"/>
                </a:solidFill>
                <a:latin typeface="Calibri"/>
              </a:rPr>
              <a:t>✓  </a:t>
            </a:r>
            <a:r>
              <a:rPr sz="1400">
                <a:solidFill>
                  <a:srgbClr val="F2F6F7"/>
                </a:solidFill>
                <a:latin typeface="Calibri"/>
              </a:rPr>
              <a:t>Correlates everything into a timeline + MITRE ATT&amp;CK mapping.</a:t>
            </a:r>
          </a:p>
          <a:p>
            <a:pPr>
              <a:lnSpc>
                <a:spcPct val="103000"/>
              </a:lnSpc>
              <a:spcAft>
                <a:spcPts val="1100"/>
              </a:spcAft>
            </a:pPr>
            <a:r>
              <a:rPr sz="1400" b="1">
                <a:solidFill>
                  <a:srgbClr val="2EC4B6"/>
                </a:solidFill>
                <a:latin typeface="Calibri"/>
              </a:rPr>
              <a:t>✓  </a:t>
            </a:r>
            <a:r>
              <a:rPr sz="1400">
                <a:solidFill>
                  <a:srgbClr val="F2F6F7"/>
                </a:solidFill>
                <a:latin typeface="Calibri"/>
              </a:rPr>
              <a:t>Outputs a self-contained interactive HTML report — ready to hand over.</a:t>
            </a:r>
          </a:p>
          <a:p>
            <a:pPr>
              <a:lnSpc>
                <a:spcPct val="103000"/>
              </a:lnSpc>
              <a:spcAft>
                <a:spcPts val="1100"/>
              </a:spcAft>
            </a:pPr>
            <a:r>
              <a:rPr sz="1400" b="1">
                <a:solidFill>
                  <a:srgbClr val="2EC4B6"/>
                </a:solidFill>
                <a:latin typeface="Calibri"/>
              </a:rPr>
              <a:t>✓  </a:t>
            </a:r>
            <a:r>
              <a:rPr sz="1400">
                <a:solidFill>
                  <a:srgbClr val="F2F6F7"/>
                </a:solidFill>
                <a:latin typeface="Calibri"/>
              </a:rPr>
              <a:t>A 2 GB Windows image: full report in ~4 minutes.</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04 · CTF GRIND</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been stuck in a CTF at 3am, running plugin after plugin for one flag?</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Manual Volatility grind against the clock and the caffeine.</a:t>
            </a:r>
          </a:p>
          <a:p>
            <a:pPr>
              <a:lnSpc>
                <a:spcPct val="103000"/>
              </a:lnSpc>
              <a:spcAft>
                <a:spcPts val="1100"/>
              </a:spcAft>
            </a:pPr>
            <a:r>
              <a:rPr sz="1400" b="1">
                <a:solidFill>
                  <a:srgbClr val="F07A5E"/>
                </a:solidFill>
                <a:latin typeface="Calibri"/>
              </a:rPr>
              <a:t>✕  </a:t>
            </a:r>
            <a:r>
              <a:rPr sz="1400">
                <a:solidFill>
                  <a:srgbClr val="B2C1C5"/>
                </a:solidFill>
                <a:latin typeface="Calibri"/>
              </a:rPr>
              <a:t>Where's the flag string? Which process holds it?</a:t>
            </a:r>
          </a:p>
          <a:p>
            <a:pPr>
              <a:lnSpc>
                <a:spcPct val="103000"/>
              </a:lnSpc>
              <a:spcAft>
                <a:spcPts val="1100"/>
              </a:spcAft>
            </a:pPr>
            <a:r>
              <a:rPr sz="1400" b="1">
                <a:solidFill>
                  <a:srgbClr val="F07A5E"/>
                </a:solidFill>
                <a:latin typeface="Calibri"/>
              </a:rPr>
              <a:t>✕  </a:t>
            </a:r>
            <a:r>
              <a:rPr sz="1400">
                <a:solidFill>
                  <a:srgbClr val="B2C1C5"/>
                </a:solidFill>
                <a:latin typeface="Calibri"/>
              </a:rPr>
              <a:t>The slow strings/IOC pass is time you don't have.</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CTF mode = fast, plugin-derived analysis (skips the slow strings pass).</a:t>
            </a:r>
          </a:p>
          <a:p>
            <a:pPr>
              <a:lnSpc>
                <a:spcPct val="103000"/>
              </a:lnSpc>
              <a:spcAft>
                <a:spcPts val="1100"/>
              </a:spcAft>
            </a:pPr>
            <a:r>
              <a:rPr sz="1400" b="1">
                <a:solidFill>
                  <a:srgbClr val="2EC4B6"/>
                </a:solidFill>
                <a:latin typeface="Calibri"/>
              </a:rPr>
              <a:t>✓  </a:t>
            </a:r>
            <a:r>
              <a:rPr sz="1400">
                <a:solidFill>
                  <a:srgbClr val="F2F6F7"/>
                </a:solidFill>
                <a:latin typeface="Calibri"/>
              </a:rPr>
              <a:t>String Hunt does a LIVE in-memory YARA search for your flag — per-PID.</a:t>
            </a:r>
          </a:p>
          <a:p>
            <a:pPr>
              <a:lnSpc>
                <a:spcPct val="103000"/>
              </a:lnSpc>
              <a:spcAft>
                <a:spcPts val="1100"/>
              </a:spcAft>
            </a:pPr>
            <a:r>
              <a:rPr sz="1400" b="1">
                <a:solidFill>
                  <a:srgbClr val="2EC4B6"/>
                </a:solidFill>
                <a:latin typeface="Calibri"/>
              </a:rPr>
              <a:t>✓  </a:t>
            </a:r>
            <a:r>
              <a:rPr sz="1400">
                <a:solidFill>
                  <a:srgbClr val="F2F6F7"/>
                </a:solidFill>
                <a:latin typeface="Calibri"/>
              </a:rPr>
              <a:t>Returns PID, process name, address, and the matched context.</a:t>
            </a:r>
          </a:p>
          <a:p>
            <a:pPr>
              <a:lnSpc>
                <a:spcPct val="103000"/>
              </a:lnSpc>
              <a:spcAft>
                <a:spcPts val="1100"/>
              </a:spcAft>
            </a:pPr>
            <a:r>
              <a:rPr sz="1400" b="1">
                <a:solidFill>
                  <a:srgbClr val="2EC4B6"/>
                </a:solidFill>
                <a:latin typeface="Calibri"/>
              </a:rPr>
              <a:t>✓  13-tab report to eyeball the whole box at a glance.</a:t>
            </a:r>
            <a:r>
              <a:rPr sz="1400">
                <a:solidFill>
                  <a:srgbClr val="F2F6F7"/>
                </a:solidFill>
                <a:latin typeface="Calibri"/>
              </a:rPr>
              <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05 · TOOL SPRAWL</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had 12 terminal tabs open, copy-pasting between plugins and a notepad?</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strings here, YARA there, pslist in one tab, netscan in another.</a:t>
            </a:r>
          </a:p>
          <a:p>
            <a:pPr>
              <a:lnSpc>
                <a:spcPct val="103000"/>
              </a:lnSpc>
              <a:spcAft>
                <a:spcPts val="1100"/>
              </a:spcAft>
            </a:pPr>
            <a:r>
              <a:rPr sz="1400" b="1">
                <a:solidFill>
                  <a:srgbClr val="F07A5E"/>
                </a:solidFill>
                <a:latin typeface="Calibri"/>
              </a:rPr>
              <a:t>✕  </a:t>
            </a:r>
            <a:r>
              <a:rPr sz="1400">
                <a:solidFill>
                  <a:srgbClr val="B2C1C5"/>
                </a:solidFill>
                <a:latin typeface="Calibri"/>
              </a:rPr>
              <a:t>The correlation lives only in your head — and your head is tired.</a:t>
            </a:r>
          </a:p>
          <a:p>
            <a:pPr>
              <a:lnSpc>
                <a:spcPct val="103000"/>
              </a:lnSpc>
              <a:spcAft>
                <a:spcPts val="1100"/>
              </a:spcAft>
            </a:pPr>
            <a:r>
              <a:rPr sz="1400" b="1">
                <a:solidFill>
                  <a:srgbClr val="F07A5E"/>
                </a:solidFill>
                <a:latin typeface="Calibri"/>
              </a:rPr>
              <a:t>✕  </a:t>
            </a:r>
            <a:r>
              <a:rPr sz="1400">
                <a:solidFill>
                  <a:srgbClr val="B2C1C5"/>
                </a:solidFill>
                <a:latin typeface="Calibri"/>
              </a:rPr>
              <a:t>One missed cross-reference and you miss the whole finding.</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A single pass pulls strings, IOCs, browser history, and chat apps at once.</a:t>
            </a:r>
          </a:p>
          <a:p>
            <a:pPr>
              <a:lnSpc>
                <a:spcPct val="103000"/>
              </a:lnSpc>
              <a:spcAft>
                <a:spcPts val="1100"/>
              </a:spcAft>
            </a:pPr>
            <a:r>
              <a:rPr sz="1400" b="1">
                <a:solidFill>
                  <a:srgbClr val="2EC4B6"/>
                </a:solidFill>
                <a:latin typeface="Calibri"/>
              </a:rPr>
              <a:t>✓  </a:t>
            </a:r>
            <a:r>
              <a:rPr sz="1400">
                <a:solidFill>
                  <a:srgbClr val="F2F6F7"/>
                </a:solidFill>
                <a:latin typeface="Calibri"/>
              </a:rPr>
              <a:t>Auto-correlates processes ↔ network ↔ files ↔ commands.</a:t>
            </a:r>
          </a:p>
          <a:p>
            <a:pPr>
              <a:lnSpc>
                <a:spcPct val="103000"/>
              </a:lnSpc>
              <a:spcAft>
                <a:spcPts val="1100"/>
              </a:spcAft>
            </a:pPr>
            <a:r>
              <a:rPr sz="1400" b="1">
                <a:solidFill>
                  <a:srgbClr val="2EC4B6"/>
                </a:solidFill>
                <a:latin typeface="Calibri"/>
              </a:rPr>
              <a:t>✓  </a:t>
            </a:r>
            <a:r>
              <a:rPr sz="1400">
                <a:solidFill>
                  <a:srgbClr val="F2F6F7"/>
                </a:solidFill>
                <a:latin typeface="Calibri"/>
              </a:rPr>
              <a:t>The connections are drawn FOR you — one report tells the whole story.</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06 · MACOS FILES</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tried to pull actual file CONTENTS out of a macOS image and hit a wall?</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Stock plugins list file names — not the bytes you actually need.</a:t>
            </a:r>
          </a:p>
          <a:p>
            <a:pPr>
              <a:lnSpc>
                <a:spcPct val="103000"/>
              </a:lnSpc>
              <a:spcAft>
                <a:spcPts val="1100"/>
              </a:spcAft>
            </a:pPr>
            <a:r>
              <a:rPr sz="1400" b="1">
                <a:solidFill>
                  <a:srgbClr val="F07A5E"/>
                </a:solidFill>
                <a:latin typeface="Calibri"/>
              </a:rPr>
              <a:t>✕  </a:t>
            </a:r>
            <a:r>
              <a:rPr sz="1400">
                <a:solidFill>
                  <a:srgbClr val="B2C1C5"/>
                </a:solidFill>
                <a:latin typeface="Calibri"/>
              </a:rPr>
              <a:t>The stock file-lister crashes with RecursionError on deep trees.</a:t>
            </a:r>
          </a:p>
          <a:p>
            <a:pPr>
              <a:lnSpc>
                <a:spcPct val="103000"/>
              </a:lnSpc>
              <a:spcAft>
                <a:spcPts val="1100"/>
              </a:spcAft>
            </a:pPr>
            <a:r>
              <a:rPr sz="1400" b="1">
                <a:solidFill>
                  <a:srgbClr val="F07A5E"/>
                </a:solidFill>
                <a:latin typeface="Calibri"/>
              </a:rPr>
              <a:t>✕  </a:t>
            </a:r>
            <a:r>
              <a:rPr sz="1400">
                <a:solidFill>
                  <a:srgbClr val="B2C1C5"/>
                </a:solidFill>
                <a:latin typeface="Calibri"/>
              </a:rPr>
              <a:t>macOS memory forensics feels like a second-class citizen.</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Ships a custom mac.pagecache plugin that recovers real file bytes (Unified Buffer Cache walk).</a:t>
            </a:r>
          </a:p>
          <a:p>
            <a:pPr>
              <a:lnSpc>
                <a:spcPct val="103000"/>
              </a:lnSpc>
              <a:spcAft>
                <a:spcPts val="1100"/>
              </a:spcAft>
            </a:pPr>
            <a:r>
              <a:rPr sz="1400" b="1">
                <a:solidFill>
                  <a:srgbClr val="2EC4B6"/>
                </a:solidFill>
                <a:latin typeface="Calibri"/>
              </a:rPr>
              <a:t>✓  </a:t>
            </a:r>
            <a:r>
              <a:rPr sz="1400">
                <a:solidFill>
                  <a:srgbClr val="F2F6F7"/>
                </a:solidFill>
                <a:latin typeface="Calibri"/>
              </a:rPr>
              <a:t>Ships an iterative list_files that won't crash on deep directory trees.</a:t>
            </a:r>
          </a:p>
          <a:p>
            <a:pPr>
              <a:lnSpc>
                <a:spcPct val="103000"/>
              </a:lnSpc>
              <a:spcAft>
                <a:spcPts val="1100"/>
              </a:spcAft>
            </a:pPr>
            <a:r>
              <a:rPr sz="1400" b="1">
                <a:solidFill>
                  <a:srgbClr val="2EC4B6"/>
                </a:solidFill>
                <a:latin typeface="Calibri"/>
              </a:rPr>
              <a:t>✓  </a:t>
            </a:r>
            <a:r>
              <a:rPr sz="1400">
                <a:solidFill>
                  <a:srgbClr val="F2F6F7"/>
                </a:solidFill>
                <a:latin typeface="Calibri"/>
              </a:rPr>
              <a:t>Both bundled with the toolkit — they survive a fresh Vol3 reinstall.</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07 · NEEDLE IN A HAYSTACK</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needed to find where ONE string lives in a 4 GB image — fast?</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Grepping raw strings throws away the process context.</a:t>
            </a:r>
          </a:p>
          <a:p>
            <a:pPr>
              <a:lnSpc>
                <a:spcPct val="103000"/>
              </a:lnSpc>
              <a:spcAft>
                <a:spcPts val="1100"/>
              </a:spcAft>
            </a:pPr>
            <a:r>
              <a:rPr sz="1400" b="1">
                <a:solidFill>
                  <a:srgbClr val="F07A5E"/>
                </a:solidFill>
                <a:latin typeface="Calibri"/>
              </a:rPr>
              <a:t>✕  </a:t>
            </a:r>
            <a:r>
              <a:rPr sz="1400">
                <a:solidFill>
                  <a:srgbClr val="B2C1C5"/>
                </a:solidFill>
                <a:latin typeface="Calibri"/>
              </a:rPr>
              <a:t>You get a byte offset, not a 'which process was this in'.</a:t>
            </a:r>
          </a:p>
          <a:p>
            <a:pPr>
              <a:lnSpc>
                <a:spcPct val="103000"/>
              </a:lnSpc>
              <a:spcAft>
                <a:spcPts val="1100"/>
              </a:spcAft>
            </a:pPr>
            <a:r>
              <a:rPr sz="1400" b="1">
                <a:solidFill>
                  <a:srgbClr val="F07A5E"/>
                </a:solidFill>
                <a:latin typeface="Calibri"/>
              </a:rPr>
              <a:t>✕  </a:t>
            </a:r>
            <a:r>
              <a:rPr sz="1400">
                <a:solidFill>
                  <a:srgbClr val="B2C1C5"/>
                </a:solidFill>
                <a:latin typeface="Calibri"/>
              </a:rPr>
              <a:t>On a multi-GB image, a blind scan is painfully slow.</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String Hunt runs Volatility YARA LIVE in memory.</a:t>
            </a:r>
          </a:p>
          <a:p>
            <a:pPr>
              <a:lnSpc>
                <a:spcPct val="103000"/>
              </a:lnSpc>
              <a:spcAft>
                <a:spcPts val="1100"/>
              </a:spcAft>
            </a:pPr>
            <a:r>
              <a:rPr sz="1400" b="1">
                <a:solidFill>
                  <a:srgbClr val="2EC4B6"/>
                </a:solidFill>
                <a:latin typeface="Calibri"/>
              </a:rPr>
              <a:t>✓  </a:t>
            </a:r>
            <a:r>
              <a:rPr sz="1400">
                <a:solidFill>
                  <a:srgbClr val="F2F6F7"/>
                </a:solidFill>
                <a:latin typeface="Calibri"/>
              </a:rPr>
              <a:t>Returns PID, process name, virtual address, and matched context per hit.</a:t>
            </a:r>
          </a:p>
          <a:p>
            <a:pPr>
              <a:lnSpc>
                <a:spcPct val="103000"/>
              </a:lnSpc>
              <a:spcAft>
                <a:spcPts val="1100"/>
              </a:spcAft>
            </a:pPr>
            <a:r>
              <a:rPr sz="1400" b="1">
                <a:solidFill>
                  <a:srgbClr val="2EC4B6"/>
                </a:solidFill>
                <a:latin typeface="Calibri"/>
              </a:rPr>
              <a:t>✓  </a:t>
            </a:r>
            <a:r>
              <a:rPr sz="1400">
                <a:solidFill>
                  <a:srgbClr val="F2F6F7"/>
                </a:solidFill>
                <a:latin typeface="Calibri"/>
              </a:rPr>
              <a:t>Scope it to specific PIDs; no pre-dumping required.</a:t>
            </a:r>
          </a:p>
          <a:p>
            <a:pPr>
              <a:lnSpc>
                <a:spcPct val="103000"/>
              </a:lnSpc>
              <a:spcAft>
                <a:spcPts val="1100"/>
              </a:spcAft>
            </a:pPr>
            <a:r>
              <a:rPr sz="1400" b="1">
                <a:solidFill>
                  <a:srgbClr val="2EC4B6"/>
                </a:solidFill>
                <a:latin typeface="Calibri"/>
              </a:rPr>
              <a:t>✓  </a:t>
            </a:r>
            <a:r>
              <a:rPr sz="1400">
                <a:solidFill>
                  <a:srgbClr val="F2F6F7"/>
                </a:solidFill>
                <a:latin typeface="Calibri"/>
              </a:rPr>
              <a:t>Example: 123 hits in 3 seconds across two processes.</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08 · PERSISTENCE</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had to hand-check cron, launchd, scheduled tasks, AND registry run keys?</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Every OS hides persistence in a different corner.</a:t>
            </a:r>
          </a:p>
          <a:p>
            <a:pPr>
              <a:lnSpc>
                <a:spcPct val="103000"/>
              </a:lnSpc>
              <a:spcAft>
                <a:spcPts val="1100"/>
              </a:spcAft>
            </a:pPr>
            <a:r>
              <a:rPr sz="1400" b="1">
                <a:solidFill>
                  <a:srgbClr val="F07A5E"/>
                </a:solidFill>
                <a:latin typeface="Calibri"/>
              </a:rPr>
              <a:t>✕  </a:t>
            </a:r>
            <a:r>
              <a:rPr sz="1400">
                <a:solidFill>
                  <a:srgbClr val="B2C1C5"/>
                </a:solidFill>
                <a:latin typeface="Calibri"/>
              </a:rPr>
              <a:t>Miss one location and you miss how the attacker survived reboot.</a:t>
            </a:r>
          </a:p>
          <a:p>
            <a:pPr>
              <a:lnSpc>
                <a:spcPct val="103000"/>
              </a:lnSpc>
              <a:spcAft>
                <a:spcPts val="1100"/>
              </a:spcAft>
            </a:pPr>
            <a:r>
              <a:rPr sz="1400" b="1">
                <a:solidFill>
                  <a:srgbClr val="F07A5E"/>
                </a:solidFill>
                <a:latin typeface="Calibri"/>
              </a:rPr>
              <a:t>✕  </a:t>
            </a:r>
            <a:r>
              <a:rPr sz="1400">
                <a:solidFill>
                  <a:srgbClr val="B2C1C5"/>
                </a:solidFill>
                <a:latin typeface="Calibri"/>
              </a:rPr>
              <a:t>It's tedious, and tedium is where mistakes live.</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One scanner covers Windows tasks, Linux cron/at/systemd, and macOS launchd.</a:t>
            </a:r>
          </a:p>
          <a:p>
            <a:pPr>
              <a:lnSpc>
                <a:spcPct val="103000"/>
              </a:lnSpc>
              <a:spcAft>
                <a:spcPts val="1100"/>
              </a:spcAft>
            </a:pPr>
            <a:r>
              <a:rPr sz="1400" b="1">
                <a:solidFill>
                  <a:srgbClr val="2EC4B6"/>
                </a:solidFill>
                <a:latin typeface="Calibri"/>
              </a:rPr>
              <a:t>✓  </a:t>
            </a:r>
            <a:r>
              <a:rPr sz="1400">
                <a:solidFill>
                  <a:srgbClr val="F2F6F7"/>
                </a:solidFill>
                <a:latin typeface="Calibri"/>
              </a:rPr>
              <a:t>Plus Windows registry auto-run / persistence keys.</a:t>
            </a:r>
          </a:p>
          <a:p>
            <a:pPr>
              <a:lnSpc>
                <a:spcPct val="103000"/>
              </a:lnSpc>
              <a:spcAft>
                <a:spcPts val="1100"/>
              </a:spcAft>
            </a:pPr>
            <a:r>
              <a:rPr sz="1400" b="1">
                <a:solidFill>
                  <a:srgbClr val="2EC4B6"/>
                </a:solidFill>
                <a:latin typeface="Calibri"/>
              </a:rPr>
              <a:t>✓  </a:t>
            </a:r>
            <a:r>
              <a:rPr sz="1400">
                <a:solidFill>
                  <a:srgbClr val="F2F6F7"/>
                </a:solidFill>
                <a:latin typeface="Calibri"/>
              </a:rPr>
              <a:t>All surfaced together in a single Scheduled-Tasks view.</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09 · COMMS EVIDENCE</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had to PROVE someone used Discord, Telegram, or Signal on a machine?</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Hunting tokens and URLs by hand across millions of strings.</a:t>
            </a:r>
          </a:p>
          <a:p>
            <a:pPr>
              <a:lnSpc>
                <a:spcPct val="103000"/>
              </a:lnSpc>
              <a:spcAft>
                <a:spcPts val="1100"/>
              </a:spcAft>
            </a:pPr>
            <a:r>
              <a:rPr sz="1400" b="1">
                <a:solidFill>
                  <a:srgbClr val="F07A5E"/>
                </a:solidFill>
                <a:latin typeface="Calibri"/>
              </a:rPr>
              <a:t>✕  </a:t>
            </a:r>
            <a:r>
              <a:rPr sz="1400">
                <a:solidFill>
                  <a:srgbClr val="B2C1C5"/>
                </a:solidFill>
                <a:latin typeface="Calibri"/>
              </a:rPr>
              <a:t>Telling a real token from a random base64 blob is error-prone.</a:t>
            </a:r>
          </a:p>
          <a:p>
            <a:pPr>
              <a:lnSpc>
                <a:spcPct val="103000"/>
              </a:lnSpc>
              <a:spcAft>
                <a:spcPts val="1100"/>
              </a:spcAft>
            </a:pPr>
            <a:r>
              <a:rPr sz="1400" b="1">
                <a:solidFill>
                  <a:srgbClr val="F07A5E"/>
                </a:solidFill>
                <a:latin typeface="Calibri"/>
              </a:rPr>
              <a:t>✕  </a:t>
            </a:r>
            <a:r>
              <a:rPr sz="1400">
                <a:solidFill>
                  <a:srgbClr val="B2C1C5"/>
                </a:solidFill>
                <a:latin typeface="Calibri"/>
              </a:rPr>
              <a:t>One false 'stolen token' claim can sink your credibility.</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Detects 12+ apps: Teams, Discord, Zoom, Slack, Telegram, WhatsApp, Skype, Webex, Signal, Meet, VooV, Flock.</a:t>
            </a:r>
          </a:p>
          <a:p>
            <a:pPr>
              <a:lnSpc>
                <a:spcPct val="103000"/>
              </a:lnSpc>
              <a:spcAft>
                <a:spcPts val="1100"/>
              </a:spcAft>
            </a:pPr>
            <a:r>
              <a:rPr sz="1400" b="1">
                <a:solidFill>
                  <a:srgbClr val="2EC4B6"/>
                </a:solidFill>
                <a:latin typeface="Calibri"/>
              </a:rPr>
              <a:t>✓  </a:t>
            </a:r>
            <a:r>
              <a:rPr sz="1400">
                <a:solidFill>
                  <a:srgbClr val="F2F6F7"/>
                </a:solidFill>
                <a:latin typeface="Calibri"/>
              </a:rPr>
              <a:t>Validates tokens (e.g. decodes Discord snowflakes) to cut false positives.</a:t>
            </a:r>
          </a:p>
          <a:p>
            <a:pPr>
              <a:lnSpc>
                <a:spcPct val="103000"/>
              </a:lnSpc>
              <a:spcAft>
                <a:spcPts val="1100"/>
              </a:spcAft>
            </a:pPr>
            <a:r>
              <a:rPr sz="1400" b="1">
                <a:solidFill>
                  <a:srgbClr val="2EC4B6"/>
                </a:solidFill>
                <a:latin typeface="Calibri"/>
              </a:rPr>
              <a:t>✓  </a:t>
            </a:r>
            <a:r>
              <a:rPr sz="1400">
                <a:solidFill>
                  <a:srgbClr val="F2F6F7"/>
                </a:solidFill>
                <a:latin typeface="Calibri"/>
              </a:rPr>
              <a:t>Correlates artifacts with running processes and network connections.</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10 · CRYING WOLF</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had a tool scream 'MALWARE!' at a perfectly legit process?</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False positives waste hours chasing ghosts.</a:t>
            </a:r>
          </a:p>
          <a:p>
            <a:pPr>
              <a:lnSpc>
                <a:spcPct val="103000"/>
              </a:lnSpc>
              <a:spcAft>
                <a:spcPts val="1100"/>
              </a:spcAft>
            </a:pPr>
            <a:r>
              <a:rPr sz="1400" b="1">
                <a:solidFill>
                  <a:srgbClr val="F07A5E"/>
                </a:solidFill>
                <a:latin typeface="Calibri"/>
              </a:rPr>
              <a:t>✕  </a:t>
            </a:r>
            <a:r>
              <a:rPr sz="1400">
                <a:solidFill>
                  <a:srgbClr val="B2C1C5"/>
                </a:solidFill>
                <a:latin typeface="Calibri"/>
              </a:rPr>
              <a:t>Over-eager verdicts destroy trust in the tool — and in your report.</a:t>
            </a:r>
          </a:p>
          <a:p>
            <a:pPr>
              <a:lnSpc>
                <a:spcPct val="103000"/>
              </a:lnSpc>
              <a:spcAft>
                <a:spcPts val="1100"/>
              </a:spcAft>
            </a:pPr>
            <a:r>
              <a:rPr sz="1400" b="1">
                <a:solidFill>
                  <a:srgbClr val="F07A5E"/>
                </a:solidFill>
                <a:latin typeface="Calibri"/>
              </a:rPr>
              <a:t>✕  </a:t>
            </a:r>
            <a:r>
              <a:rPr sz="1400">
                <a:solidFill>
                  <a:srgbClr val="B2C1C5"/>
                </a:solidFill>
                <a:latin typeface="Calibri"/>
              </a:rPr>
              <a:t>An automated 'this is evil' label rarely survives cross-examination.</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Evidence, not verdicts: it flags observations ('unexpected parent', 'ran from /tmp').</a:t>
            </a:r>
          </a:p>
          <a:p>
            <a:pPr>
              <a:lnSpc>
                <a:spcPct val="103000"/>
              </a:lnSpc>
              <a:spcAft>
                <a:spcPts val="1100"/>
              </a:spcAft>
            </a:pPr>
            <a:r>
              <a:rPr sz="1400" b="1">
                <a:solidFill>
                  <a:srgbClr val="2EC4B6"/>
                </a:solidFill>
                <a:latin typeface="Calibri"/>
              </a:rPr>
              <a:t>✓  </a:t>
            </a:r>
            <a:r>
              <a:rPr sz="1400">
                <a:solidFill>
                  <a:srgbClr val="F2F6F7"/>
                </a:solidFill>
                <a:latin typeface="Calibri"/>
              </a:rPr>
              <a:t>IOC and token patterns are context-anchored, not naive regex.</a:t>
            </a:r>
          </a:p>
          <a:p>
            <a:pPr>
              <a:lnSpc>
                <a:spcPct val="103000"/>
              </a:lnSpc>
              <a:spcAft>
                <a:spcPts val="1100"/>
              </a:spcAft>
            </a:pPr>
            <a:r>
              <a:rPr sz="1400" b="1">
                <a:solidFill>
                  <a:srgbClr val="2EC4B6"/>
                </a:solidFill>
                <a:latin typeface="Calibri"/>
              </a:rPr>
              <a:t>✓  </a:t>
            </a:r>
            <a:r>
              <a:rPr sz="1400">
                <a:solidFill>
                  <a:srgbClr val="F2F6F7"/>
                </a:solidFill>
                <a:latin typeface="Calibri"/>
              </a:rPr>
              <a:t>Password hashes redacted by default; raw stays in the JSON.</a:t>
            </a:r>
          </a:p>
          <a:p>
            <a:pPr>
              <a:lnSpc>
                <a:spcPct val="103000"/>
              </a:lnSpc>
              <a:spcAft>
                <a:spcPts val="1100"/>
              </a:spcAft>
            </a:pPr>
            <a:r>
              <a:rPr sz="1400" b="1">
                <a:solidFill>
                  <a:srgbClr val="2EC4B6"/>
                </a:solidFill>
                <a:latin typeface="Calibri"/>
              </a:rPr>
              <a:t>✓  </a:t>
            </a:r>
            <a:r>
              <a:rPr sz="1400">
                <a:solidFill>
                  <a:srgbClr val="F2F6F7"/>
                </a:solidFill>
                <a:latin typeface="Calibri"/>
              </a:rPr>
              <a:t>Transparent, reproducible, court-defensible.</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11 · THE HANDOFF</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needed to give your findings to someone who doesn't live in a terminal?</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Raw JSON and terminal dumps mean nothing to a manager or client.</a:t>
            </a:r>
          </a:p>
          <a:p>
            <a:pPr>
              <a:lnSpc>
                <a:spcPct val="103000"/>
              </a:lnSpc>
              <a:spcAft>
                <a:spcPts val="1100"/>
              </a:spcAft>
            </a:pPr>
            <a:r>
              <a:rPr sz="1400" b="1">
                <a:solidFill>
                  <a:srgbClr val="F07A5E"/>
                </a:solidFill>
                <a:latin typeface="Calibri"/>
              </a:rPr>
              <a:t>✕  </a:t>
            </a:r>
            <a:r>
              <a:rPr sz="1400">
                <a:solidFill>
                  <a:srgbClr val="B2C1C5"/>
                </a:solidFill>
                <a:latin typeface="Calibri"/>
              </a:rPr>
              <a:t>Screenshots and pasted text make a messy, unsearchable report.</a:t>
            </a:r>
          </a:p>
          <a:p>
            <a:pPr>
              <a:lnSpc>
                <a:spcPct val="103000"/>
              </a:lnSpc>
              <a:spcAft>
                <a:spcPts val="1100"/>
              </a:spcAft>
            </a:pPr>
            <a:r>
              <a:rPr sz="1400" b="1">
                <a:solidFill>
                  <a:srgbClr val="F07A5E"/>
                </a:solidFill>
                <a:latin typeface="Calibri"/>
              </a:rPr>
              <a:t>✕  </a:t>
            </a:r>
            <a:r>
              <a:rPr sz="1400">
                <a:solidFill>
                  <a:srgbClr val="B2C1C5"/>
                </a:solidFill>
                <a:latin typeface="Calibri"/>
              </a:rPr>
              <a:t>The insight is real but nobody can consume it.</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One self-contained report.html — 13 tabs, opens offline in any browser.</a:t>
            </a:r>
            <a:r>
              <a:rPr sz="1400">
                <a:solidFill>
                  <a:srgbClr val="F2F6F7"/>
                </a:solidFill>
                <a:latin typeface="Calibri"/>
              </a:rPr>
              <a:t/>
            </a:r>
          </a:p>
          <a:p>
            <a:pPr>
              <a:lnSpc>
                <a:spcPct val="103000"/>
              </a:lnSpc>
              <a:spcAft>
                <a:spcPts val="1100"/>
              </a:spcAft>
            </a:pPr>
            <a:r>
              <a:rPr sz="1400" b="1">
                <a:solidFill>
                  <a:srgbClr val="2EC4B6"/>
                </a:solidFill>
                <a:latin typeface="Calibri"/>
              </a:rPr>
              <a:t>✓  </a:t>
            </a:r>
            <a:r>
              <a:rPr sz="1400">
                <a:solidFill>
                  <a:srgbClr val="F2F6F7"/>
                </a:solidFill>
                <a:latin typeface="Calibri"/>
              </a:rPr>
              <a:t>Global cross-tab search highlights a term across every tab at once.</a:t>
            </a:r>
          </a:p>
          <a:p>
            <a:pPr>
              <a:lnSpc>
                <a:spcPct val="103000"/>
              </a:lnSpc>
              <a:spcAft>
                <a:spcPts val="1100"/>
              </a:spcAft>
            </a:pPr>
            <a:r>
              <a:rPr sz="1400" b="1">
                <a:solidFill>
                  <a:srgbClr val="2EC4B6"/>
                </a:solidFill>
                <a:latin typeface="Calibri"/>
              </a:rPr>
              <a:t>✓  </a:t>
            </a:r>
            <a:r>
              <a:rPr sz="1400">
                <a:solidFill>
                  <a:srgbClr val="F2F6F7"/>
                </a:solidFill>
                <a:latin typeface="Calibri"/>
              </a:rPr>
              <a:t>Nothing to install: attach it, email it, hand it over.</a:t>
            </a:r>
          </a:p>
          <a:p>
            <a:pPr>
              <a:lnSpc>
                <a:spcPct val="103000"/>
              </a:lnSpc>
              <a:spcAft>
                <a:spcPts val="1100"/>
              </a:spcAft>
            </a:pPr>
            <a:r>
              <a:rPr sz="1400" b="1">
                <a:solidFill>
                  <a:srgbClr val="2EC4B6"/>
                </a:solidFill>
                <a:latin typeface="Calibri"/>
              </a:rPr>
              <a:t>✓  </a:t>
            </a:r>
            <a:r>
              <a:rPr sz="1400">
                <a:solidFill>
                  <a:srgbClr val="F2F6F7"/>
                </a:solidFill>
                <a:latin typeface="Calibri"/>
              </a:rPr>
              <a:t>Analysts still get JSON, timeline CSV, and ELK/SIEM exports.</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365760"/>
            <a:ext cx="10058400" cy="365760"/>
          </a:xfrm>
          <a:prstGeom prst="rect">
            <a:avLst/>
          </a:prstGeom>
          <a:noFill/>
        </p:spPr>
        <p:txBody>
          <a:bodyPr wrap="square">
            <a:spAutoFit/>
          </a:bodyPr>
          <a:lstStyle/>
          <a:p>
            <a:pPr algn="l">
              <a:spcBef>
                <a:spcPts val="0"/>
              </a:spcBef>
              <a:spcAft>
                <a:spcPts val="600"/>
              </a:spcAft>
            </a:pPr>
            <a:r>
              <a:rPr sz="1300" b="1" i="0">
                <a:solidFill>
                  <a:srgbClr val="F07A5E"/>
                </a:solidFill>
                <a:latin typeface="Calibri"/>
              </a:rPr>
              <a:t>PROBLEM 12 · SETUP &amp; LANDMINES</a:t>
            </a:r>
          </a:p>
        </p:txBody>
      </p:sp>
      <p:sp>
        <p:nvSpPr>
          <p:cNvPr id="4" name="TextBox 3"/>
          <p:cNvSpPr txBox="1"/>
          <p:nvPr/>
        </p:nvSpPr>
        <p:spPr>
          <a:xfrm>
            <a:off x="566928" y="713232"/>
            <a:ext cx="11155680" cy="1463040"/>
          </a:xfrm>
          <a:prstGeom prst="rect">
            <a:avLst/>
          </a:prstGeom>
          <a:noFill/>
        </p:spPr>
        <p:txBody>
          <a:bodyPr wrap="square">
            <a:spAutoFit/>
          </a:bodyPr>
          <a:lstStyle/>
          <a:p>
            <a:pPr algn="l">
              <a:spcBef>
                <a:spcPts val="0"/>
              </a:spcBef>
              <a:spcAft>
                <a:spcPts val="600"/>
              </a:spcAft>
            </a:pPr>
            <a:r>
              <a:rPr sz="2700" b="1" i="0">
                <a:solidFill>
                  <a:srgbClr val="F2F6F7"/>
                </a:solidFill>
                <a:latin typeface="Calibri"/>
              </a:rPr>
              <a:t>Have you ever lost an afternoon just getting Volatility, symbols, and deps installed?</a:t>
            </a:r>
          </a:p>
        </p:txBody>
      </p:sp>
      <p:sp>
        <p:nvSpPr>
          <p:cNvPr id="5" name="Rectangle 4"/>
          <p:cNvSpPr/>
          <p:nvPr/>
        </p:nvSpPr>
        <p:spPr>
          <a:xfrm>
            <a:off x="685800" y="2487168"/>
            <a:ext cx="5230368" cy="3611880"/>
          </a:xfrm>
          <a:prstGeom prst="rect">
            <a:avLst/>
          </a:prstGeom>
          <a:solidFill>
            <a:srgbClr val="271A1A"/>
          </a:solidFill>
          <a:ln w="15875">
            <a:solidFill>
              <a:srgbClr val="F07A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487168"/>
            <a:ext cx="5230368" cy="457200"/>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THE PAIN</a:t>
            </a:r>
          </a:p>
        </p:txBody>
      </p:sp>
      <p:sp>
        <p:nvSpPr>
          <p:cNvPr id="8" name="TextBox 7"/>
          <p:cNvSpPr txBox="1"/>
          <p:nvPr/>
        </p:nvSpPr>
        <p:spPr>
          <a:xfrm>
            <a:off x="941832" y="3090672"/>
            <a:ext cx="4773168" cy="2880360"/>
          </a:xfrm>
          <a:prstGeom prst="rect">
            <a:avLst/>
          </a:prstGeom>
          <a:noFill/>
        </p:spPr>
        <p:txBody>
          <a:bodyPr wrap="square">
            <a:spAutoFit/>
          </a:bodyPr>
          <a:lstStyle/>
          <a:p>
            <a:pPr>
              <a:lnSpc>
                <a:spcPct val="103000"/>
              </a:lnSpc>
              <a:spcAft>
                <a:spcPts val="1100"/>
              </a:spcAft>
            </a:pPr>
            <a:r>
              <a:rPr sz="1400" b="1">
                <a:solidFill>
                  <a:srgbClr val="F07A5E"/>
                </a:solidFill>
                <a:latin typeface="Calibri"/>
              </a:rPr>
              <a:t>✕  </a:t>
            </a:r>
            <a:r>
              <a:rPr sz="1400">
                <a:solidFill>
                  <a:srgbClr val="B2C1C5"/>
                </a:solidFill>
                <a:latin typeface="Calibri"/>
              </a:rPr>
              <a:t>Vol2 + Vol3 + symbol packs + Python deps to wrangle.</a:t>
            </a:r>
          </a:p>
          <a:p>
            <a:pPr>
              <a:lnSpc>
                <a:spcPct val="103000"/>
              </a:lnSpc>
              <a:spcAft>
                <a:spcPts val="1100"/>
              </a:spcAft>
            </a:pPr>
            <a:r>
              <a:rPr sz="1400" b="1">
                <a:solidFill>
                  <a:srgbClr val="F07A5E"/>
                </a:solidFill>
                <a:latin typeface="Calibri"/>
              </a:rPr>
              <a:t>✕  </a:t>
            </a:r>
            <a:r>
              <a:rPr sz="1400">
                <a:solidFill>
                  <a:srgbClr val="B2C1C5"/>
                </a:solidFill>
                <a:latin typeface="Calibri"/>
              </a:rPr>
              <a:t>Then Vol3 lies (exits 0 on failure), the symbol cache stalls…</a:t>
            </a:r>
          </a:p>
          <a:p>
            <a:pPr>
              <a:lnSpc>
                <a:spcPct val="103000"/>
              </a:lnSpc>
              <a:spcAft>
                <a:spcPts val="1100"/>
              </a:spcAft>
            </a:pPr>
            <a:r>
              <a:rPr sz="1400" b="1">
                <a:solidFill>
                  <a:srgbClr val="F07A5E"/>
                </a:solidFill>
                <a:latin typeface="Calibri"/>
              </a:rPr>
              <a:t>✕  </a:t>
            </a:r>
            <a:r>
              <a:rPr sz="1400">
                <a:solidFill>
                  <a:srgbClr val="B2C1C5"/>
                </a:solidFill>
                <a:latin typeface="Calibri"/>
              </a:rPr>
              <a:t>…and a bare .vmem silently returns zero processes.</a:t>
            </a:r>
          </a:p>
        </p:txBody>
      </p:sp>
      <p:sp>
        <p:nvSpPr>
          <p:cNvPr id="9" name="TextBox 8"/>
          <p:cNvSpPr txBox="1"/>
          <p:nvPr/>
        </p:nvSpPr>
        <p:spPr>
          <a:xfrm>
            <a:off x="5907024" y="3931920"/>
            <a:ext cx="457200" cy="640080"/>
          </a:xfrm>
          <a:prstGeom prst="rect">
            <a:avLst/>
          </a:prstGeom>
          <a:noFill/>
        </p:spPr>
        <p:txBody>
          <a:bodyPr wrap="square">
            <a:spAutoFit/>
          </a:bodyPr>
          <a:lstStyle/>
          <a:p>
            <a:pPr algn="ctr">
              <a:spcBef>
                <a:spcPts val="0"/>
              </a:spcBef>
              <a:spcAft>
                <a:spcPts val="600"/>
              </a:spcAft>
            </a:pPr>
            <a:r>
              <a:rPr sz="2600" b="1" i="0">
                <a:solidFill>
                  <a:srgbClr val="2EC4B6"/>
                </a:solidFill>
                <a:latin typeface="Calibri"/>
              </a:rPr>
              <a:t>➜</a:t>
            </a:r>
          </a:p>
        </p:txBody>
      </p:sp>
      <p:sp>
        <p:nvSpPr>
          <p:cNvPr id="10" name="Rectangle 9"/>
          <p:cNvSpPr/>
          <p:nvPr/>
        </p:nvSpPr>
        <p:spPr>
          <a:xfrm>
            <a:off x="6309360" y="2487168"/>
            <a:ext cx="5230368" cy="3611880"/>
          </a:xfrm>
          <a:prstGeom prst="rect">
            <a:avLst/>
          </a:prstGeom>
          <a:solidFill>
            <a:srgbClr val="0E2B2B"/>
          </a:solidFill>
          <a:ln w="15875">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2487168"/>
            <a:ext cx="5230368" cy="4572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505456"/>
            <a:ext cx="5084064" cy="420624"/>
          </a:xfrm>
          <a:prstGeom prst="rect">
            <a:avLst/>
          </a:prstGeom>
          <a:noFill/>
        </p:spPr>
        <p:txBody>
          <a:bodyPr wrap="square" anchor="ctr">
            <a:spAutoFit/>
          </a:bodyPr>
          <a:lstStyle/>
          <a:p>
            <a:pPr algn="ctr">
              <a:spcBef>
                <a:spcPts val="0"/>
              </a:spcBef>
              <a:spcAft>
                <a:spcPts val="600"/>
              </a:spcAft>
            </a:pPr>
            <a:r>
              <a:rPr sz="1400" b="1" i="0">
                <a:solidFill>
                  <a:srgbClr val="0B1E24"/>
                </a:solidFill>
                <a:latin typeface="Calibri"/>
              </a:rPr>
              <a:t>HOW RAMBreaker FIXES IT</a:t>
            </a:r>
          </a:p>
        </p:txBody>
      </p:sp>
      <p:sp>
        <p:nvSpPr>
          <p:cNvPr id="13" name="TextBox 12"/>
          <p:cNvSpPr txBox="1"/>
          <p:nvPr/>
        </p:nvSpPr>
        <p:spPr>
          <a:xfrm>
            <a:off x="6565392" y="3090672"/>
            <a:ext cx="4773168" cy="2880360"/>
          </a:xfrm>
          <a:prstGeom prst="rect">
            <a:avLst/>
          </a:prstGeom>
          <a:noFill/>
        </p:spPr>
        <p:txBody>
          <a:bodyPr wrap="square">
            <a:spAutoFit/>
          </a:bodyPr>
          <a:lstStyle/>
          <a:p>
            <a:pPr>
              <a:lnSpc>
                <a:spcPct val="103000"/>
              </a:lnSpc>
              <a:spcAft>
                <a:spcPts val="1100"/>
              </a:spcAft>
            </a:pPr>
            <a:r>
              <a:rPr sz="1400" b="1">
                <a:solidFill>
                  <a:srgbClr val="2EC4B6"/>
                </a:solidFill>
                <a:latin typeface="Calibri"/>
              </a:rPr>
              <a:t>✓  </a:t>
            </a:r>
            <a:r>
              <a:rPr sz="1400">
                <a:solidFill>
                  <a:srgbClr val="F2F6F7"/>
                </a:solidFill>
                <a:latin typeface="Calibri"/>
              </a:rPr>
              <a:t>Built-in installer sets up Vol2, Vol3, symbols, and deps for you.</a:t>
            </a:r>
          </a:p>
          <a:p>
            <a:pPr>
              <a:lnSpc>
                <a:spcPct val="103000"/>
              </a:lnSpc>
              <a:spcAft>
                <a:spcPts val="1100"/>
              </a:spcAft>
            </a:pPr>
            <a:r>
              <a:rPr sz="1400" b="1">
                <a:solidFill>
                  <a:srgbClr val="2EC4B6"/>
                </a:solidFill>
                <a:latin typeface="Calibri"/>
              </a:rPr>
              <a:t>Handles Vol3's exit-0 lie: a plugin that exits 0 but comes back empty is DEMOTED to a real failure, every run is rated healthy/degraded/broken, and a scrubbed fingerprint records exactly what broke.</a:t>
            </a:r>
            <a:r>
              <a:rPr sz="1400">
                <a:solidFill>
                  <a:srgbClr val="F2F6F7"/>
                </a:solidFill>
                <a:latin typeface="Calibri"/>
              </a:rPr>
              <a:t/>
            </a:r>
          </a:p>
          <a:p>
            <a:pPr>
              <a:lnSpc>
                <a:spcPct val="103000"/>
              </a:lnSpc>
              <a:spcAft>
                <a:spcPts val="1100"/>
              </a:spcAft>
            </a:pPr>
            <a:r>
              <a:rPr sz="1400" b="1">
                <a:solidFill>
                  <a:srgbClr val="2EC4B6"/>
                </a:solidFill>
                <a:latin typeface="Calibri"/>
              </a:rPr>
              <a:t>✓  </a:t>
            </a:r>
            <a:r>
              <a:rPr sz="1400">
                <a:solidFill>
                  <a:srgbClr val="F2F6F7"/>
                </a:solidFill>
                <a:latin typeface="Calibri"/>
              </a:rPr>
              <a:t>Falls back pslist → pstree so analysis still works.</a:t>
            </a:r>
          </a:p>
          <a:p>
            <a:pPr>
              <a:lnSpc>
                <a:spcPct val="103000"/>
              </a:lnSpc>
              <a:spcAft>
                <a:spcPts val="1100"/>
              </a:spcAft>
            </a:pPr>
            <a:r>
              <a:rPr sz="1400" b="1">
                <a:solidFill>
                  <a:srgbClr val="2EC4B6"/>
                </a:solidFill>
                <a:latin typeface="Calibri"/>
              </a:rPr>
              <a:t>✓  </a:t>
            </a:r>
            <a:r>
              <a:rPr sz="1400">
                <a:solidFill>
                  <a:srgbClr val="F2F6F7"/>
                </a:solidFill>
                <a:latin typeface="Calibri"/>
              </a:rPr>
              <a:t>Detects when a .vmem needs its .vmss/.vmsn companion — and tells you.</a:t>
            </a:r>
          </a:p>
        </p:txBody>
      </p:sp>
      <p:sp>
        <p:nvSpPr>
          <p:cNvPr id="14" name="TextBox 13"/>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411480"/>
            <a:ext cx="10058400" cy="457200"/>
          </a:xfrm>
          <a:prstGeom prst="rect">
            <a:avLst/>
          </a:prstGeom>
          <a:noFill/>
        </p:spPr>
        <p:txBody>
          <a:bodyPr wrap="square">
            <a:spAutoFit/>
          </a:bodyPr>
          <a:lstStyle/>
          <a:p>
            <a:pPr algn="l">
              <a:spcBef>
                <a:spcPts val="0"/>
              </a:spcBef>
              <a:spcAft>
                <a:spcPts val="600"/>
              </a:spcAft>
            </a:pPr>
            <a:r>
              <a:rPr sz="1500" b="1" i="0">
                <a:solidFill>
                  <a:srgbClr val="2EC4B6"/>
                </a:solidFill>
                <a:latin typeface="Calibri"/>
              </a:rPr>
              <a:t>SO YOU NEVER HAVE TO AGAIN</a:t>
            </a:r>
          </a:p>
        </p:txBody>
      </p:sp>
      <p:sp>
        <p:nvSpPr>
          <p:cNvPr id="4" name="TextBox 3"/>
          <p:cNvSpPr txBox="1"/>
          <p:nvPr/>
        </p:nvSpPr>
        <p:spPr>
          <a:xfrm>
            <a:off x="566928" y="786384"/>
            <a:ext cx="11155680" cy="822960"/>
          </a:xfrm>
          <a:prstGeom prst="rect">
            <a:avLst/>
          </a:prstGeom>
          <a:noFill/>
        </p:spPr>
        <p:txBody>
          <a:bodyPr wrap="square">
            <a:spAutoFit/>
          </a:bodyPr>
          <a:lstStyle/>
          <a:p>
            <a:pPr algn="l">
              <a:spcBef>
                <a:spcPts val="0"/>
              </a:spcBef>
              <a:spcAft>
                <a:spcPts val="600"/>
              </a:spcAft>
            </a:pPr>
            <a:r>
              <a:rPr sz="3000" b="1" i="0">
                <a:solidFill>
                  <a:srgbClr val="F2F6F7"/>
                </a:solidFill>
                <a:latin typeface="Calibri"/>
              </a:rPr>
              <a:t>Twelve headaches. One tool.</a:t>
            </a:r>
          </a:p>
        </p:txBody>
      </p:sp>
      <p:sp>
        <p:nvSpPr>
          <p:cNvPr id="5" name="Rectangle 4"/>
          <p:cNvSpPr/>
          <p:nvPr/>
        </p:nvSpPr>
        <p:spPr>
          <a:xfrm>
            <a:off x="685800" y="1874519"/>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OS &amp; engine guessing</a:t>
            </a:r>
          </a:p>
          <a:p>
            <a:pPr/>
            <a:r>
              <a:rPr sz="1600" b="1">
                <a:solidFill>
                  <a:srgbClr val="2EC4B6"/>
                </a:solidFill>
                <a:latin typeface="Calibri"/>
              </a:rPr>
              <a:t>✓  Dumped the .exe, not the live memory (VAD!)</a:t>
            </a:r>
          </a:p>
          <a:p>
            <a:pPr/>
            <a:r>
              <a:rPr sz="1600" b="1">
                <a:solidFill>
                  <a:srgbClr val="2EC4B6"/>
                </a:solidFill>
                <a:latin typeface="Calibri"/>
              </a:rPr>
              <a:t>✓  Injected code hiding from the loader (auto-correlated!)</a:t>
            </a:r>
          </a:p>
        </p:txBody>
      </p:sp>
      <p:sp>
        <p:nvSpPr>
          <p:cNvPr id="6" name="Rectangle 5"/>
          <p:cNvSpPr/>
          <p:nvPr/>
        </p:nvSpPr>
        <p:spPr>
          <a:xfrm>
            <a:off x="6309360" y="1874519"/>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Missing Linux ISF (build it!)</a:t>
            </a:r>
          </a:p>
        </p:txBody>
      </p:sp>
      <p:sp>
        <p:nvSpPr>
          <p:cNvPr id="7" name="Rectangle 6"/>
          <p:cNvSpPr/>
          <p:nvPr/>
        </p:nvSpPr>
        <p:spPr>
          <a:xfrm>
            <a:off x="685800" y="2532887"/>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2-hour DFIR deadline</a:t>
            </a:r>
          </a:p>
        </p:txBody>
      </p:sp>
      <p:sp>
        <p:nvSpPr>
          <p:cNvPr id="8" name="Rectangle 7"/>
          <p:cNvSpPr/>
          <p:nvPr/>
        </p:nvSpPr>
        <p:spPr>
          <a:xfrm>
            <a:off x="6309360" y="2532887"/>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The 3am CTF grind</a:t>
            </a:r>
          </a:p>
        </p:txBody>
      </p:sp>
      <p:sp>
        <p:nvSpPr>
          <p:cNvPr id="9" name="Rectangle 8"/>
          <p:cNvSpPr/>
          <p:nvPr/>
        </p:nvSpPr>
        <p:spPr>
          <a:xfrm>
            <a:off x="685800" y="3191256"/>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A dozen tools by hand</a:t>
            </a:r>
          </a:p>
        </p:txBody>
      </p:sp>
      <p:sp>
        <p:nvSpPr>
          <p:cNvPr id="10" name="Rectangle 9"/>
          <p:cNvSpPr/>
          <p:nvPr/>
        </p:nvSpPr>
        <p:spPr>
          <a:xfrm>
            <a:off x="6309360" y="3191256"/>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macOS file recovery</a:t>
            </a:r>
          </a:p>
        </p:txBody>
      </p:sp>
      <p:sp>
        <p:nvSpPr>
          <p:cNvPr id="11" name="Rectangle 10"/>
          <p:cNvSpPr/>
          <p:nvPr/>
        </p:nvSpPr>
        <p:spPr>
          <a:xfrm>
            <a:off x="685800" y="3849624"/>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Finding one string in 4 GB</a:t>
            </a:r>
          </a:p>
        </p:txBody>
      </p:sp>
      <p:sp>
        <p:nvSpPr>
          <p:cNvPr id="12" name="Rectangle 11"/>
          <p:cNvSpPr/>
          <p:nvPr/>
        </p:nvSpPr>
        <p:spPr>
          <a:xfrm>
            <a:off x="6309360" y="3849624"/>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Persistence across 3 OSes</a:t>
            </a:r>
          </a:p>
        </p:txBody>
      </p:sp>
      <p:sp>
        <p:nvSpPr>
          <p:cNvPr id="13" name="Rectangle 12"/>
          <p:cNvSpPr/>
          <p:nvPr/>
        </p:nvSpPr>
        <p:spPr>
          <a:xfrm>
            <a:off x="685800" y="4507992"/>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Proving chat-app use</a:t>
            </a:r>
          </a:p>
        </p:txBody>
      </p:sp>
      <p:sp>
        <p:nvSpPr>
          <p:cNvPr id="14" name="Rectangle 13"/>
          <p:cNvSpPr/>
          <p:nvPr/>
        </p:nvSpPr>
        <p:spPr>
          <a:xfrm>
            <a:off x="6309360" y="4507992"/>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Tools that cry wolf</a:t>
            </a:r>
          </a:p>
        </p:txBody>
      </p:sp>
      <p:sp>
        <p:nvSpPr>
          <p:cNvPr id="15" name="Rectangle 14"/>
          <p:cNvSpPr/>
          <p:nvPr/>
        </p:nvSpPr>
        <p:spPr>
          <a:xfrm>
            <a:off x="685800" y="5166359"/>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Handoff to non-tech</a:t>
            </a:r>
          </a:p>
        </p:txBody>
      </p:sp>
      <p:sp>
        <p:nvSpPr>
          <p:cNvPr id="16" name="Rectangle 15"/>
          <p:cNvSpPr/>
          <p:nvPr/>
        </p:nvSpPr>
        <p:spPr>
          <a:xfrm>
            <a:off x="6309360" y="5166359"/>
            <a:ext cx="5394960" cy="530352"/>
          </a:xfrm>
          <a:prstGeom prst="rect">
            <a:avLst/>
          </a:prstGeom>
          <a:solidFill>
            <a:srgbClr val="112C35"/>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b="1" sz="1600">
                <a:solidFill>
                  <a:srgbClr val="2EC4B6"/>
                </a:solidFill>
                <a:latin typeface="Calibri"/>
              </a:rPr>
              <a:t>✓  </a:t>
            </a:r>
            <a:r>
              <a:rPr sz="1500">
                <a:solidFill>
                  <a:srgbClr val="F2F6F7"/>
                </a:solidFill>
                <a:latin typeface="Calibri"/>
              </a:rPr>
              <a:t>Setup &amp; the landmines</a:t>
            </a:r>
          </a:p>
        </p:txBody>
      </p:sp>
      <p:sp>
        <p:nvSpPr>
          <p:cNvPr id="17" name="TextBox 16"/>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E24"/>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F0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097280"/>
          </a:xfrm>
          <a:prstGeom prst="rect">
            <a:avLst/>
          </a:prstGeom>
          <a:noFill/>
        </p:spPr>
        <p:txBody>
          <a:bodyPr wrap="square">
            <a:spAutoFit/>
          </a:bodyPr>
          <a:lstStyle/>
          <a:p>
            <a:pPr algn="l">
              <a:spcBef>
                <a:spcPts val="0"/>
              </a:spcBef>
              <a:spcAft>
                <a:spcPts val="600"/>
              </a:spcAft>
            </a:pPr>
            <a:r>
              <a:rPr sz="3400" b="1" i="1">
                <a:solidFill>
                  <a:srgbClr val="F2F6F7"/>
                </a:solidFill>
                <a:latin typeface="Calibri"/>
              </a:rPr>
              <a:t>From 'have you ever…' to 'never again.'</a:t>
            </a:r>
          </a:p>
        </p:txBody>
      </p:sp>
      <p:sp>
        <p:nvSpPr>
          <p:cNvPr id="5" name="TextBox 4"/>
          <p:cNvSpPr txBox="1"/>
          <p:nvPr/>
        </p:nvSpPr>
        <p:spPr>
          <a:xfrm>
            <a:off x="914400" y="2971800"/>
            <a:ext cx="10332720" cy="914400"/>
          </a:xfrm>
          <a:prstGeom prst="rect">
            <a:avLst/>
          </a:prstGeom>
          <a:noFill/>
        </p:spPr>
        <p:txBody>
          <a:bodyPr wrap="square">
            <a:spAutoFit/>
          </a:bodyPr>
          <a:lstStyle/>
          <a:p>
            <a:pPr algn="l">
              <a:spcBef>
                <a:spcPts val="0"/>
              </a:spcBef>
              <a:spcAft>
                <a:spcPts val="600"/>
              </a:spcAft>
            </a:pPr>
            <a:r>
              <a:rPr sz="4600" b="1" i="0">
                <a:solidFill>
                  <a:srgbClr val="2EC4B6"/>
                </a:solidFill>
                <a:latin typeface="Calibri"/>
              </a:rPr>
              <a:t>RAMBreaker</a:t>
            </a:r>
          </a:p>
        </p:txBody>
      </p:sp>
      <p:sp>
        <p:nvSpPr>
          <p:cNvPr id="6" name="TextBox 5"/>
          <p:cNvSpPr txBox="1"/>
          <p:nvPr/>
        </p:nvSpPr>
        <p:spPr>
          <a:xfrm>
            <a:off x="914400" y="3977639"/>
            <a:ext cx="10332720" cy="822960"/>
          </a:xfrm>
          <a:prstGeom prst="rect">
            <a:avLst/>
          </a:prstGeom>
          <a:noFill/>
        </p:spPr>
        <p:txBody>
          <a:bodyPr wrap="square">
            <a:spAutoFit/>
          </a:bodyPr>
          <a:lstStyle/>
          <a:p>
            <a:pPr algn="l">
              <a:spcBef>
                <a:spcPts val="0"/>
              </a:spcBef>
              <a:spcAft>
                <a:spcPts val="600"/>
              </a:spcAft>
            </a:pPr>
            <a:r>
              <a:rPr sz="1700" b="0" i="1">
                <a:solidFill>
                  <a:srgbClr val="B2C1C5"/>
                </a:solidFill>
                <a:latin typeface="Calibri"/>
              </a:rPr>
              <a:t>One command · Windows, Linux &amp; macOS · from raw memory to a report anyone can read.</a:t>
            </a:r>
          </a:p>
        </p:txBody>
      </p:sp>
      <p:sp>
        <p:nvSpPr>
          <p:cNvPr id="7" name="Rectangle 6"/>
          <p:cNvSpPr/>
          <p:nvPr/>
        </p:nvSpPr>
        <p:spPr>
          <a:xfrm>
            <a:off x="950976" y="5029200"/>
            <a:ext cx="2743200" cy="41148"/>
          </a:xfrm>
          <a:prstGeom prst="rect">
            <a:avLst/>
          </a:prstGeom>
          <a:solidFill>
            <a:srgbClr val="E8C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212080"/>
            <a:ext cx="10332720" cy="914400"/>
          </a:xfrm>
          <a:prstGeom prst="rect">
            <a:avLst/>
          </a:prstGeom>
          <a:noFill/>
        </p:spPr>
        <p:txBody>
          <a:bodyPr wrap="square">
            <a:spAutoFit/>
          </a:bodyPr>
          <a:lstStyle/>
          <a:p>
            <a:pPr algn="l">
              <a:spcBef>
                <a:spcPts val="0"/>
              </a:spcBef>
              <a:spcAft>
                <a:spcPts val="400"/>
              </a:spcAft>
            </a:pPr>
            <a:r>
              <a:rPr sz="2200" b="1" i="0">
                <a:solidFill>
                  <a:srgbClr val="E8C06A"/>
                </a:solidFill>
                <a:latin typeface="Calibri"/>
              </a:rPr>
              <a:t>Thank you  ·  Questions?  ·  Live demo on request</a:t>
            </a:r>
          </a:p>
          <a:p>
            <a:pPr algn="l">
              <a:spcBef>
                <a:spcPts val="0"/>
              </a:spcBef>
              <a:spcAft>
                <a:spcPts val="400"/>
              </a:spcAft>
            </a:pPr>
            <a:r>
              <a:rPr sz="1300" b="0" i="0">
                <a:solidFill>
                  <a:srgbClr val="7C9298"/>
                </a:solidFill>
                <a:latin typeface="Calibri"/>
              </a:rPr>
              <a:t>Ahmad Anasweh</a:t>
            </a:r>
          </a:p>
        </p:txBody>
      </p:sp>
      <p:sp>
        <p:nvSpPr>
          <p:cNvPr id="9" name="TextBox 8"/>
          <p:cNvSpPr txBox="1"/>
          <p:nvPr/>
        </p:nvSpPr>
        <p:spPr>
          <a:xfrm>
            <a:off x="11201400" y="6382512"/>
            <a:ext cx="868680" cy="365760"/>
          </a:xfrm>
          <a:prstGeom prst="rect">
            <a:avLst/>
          </a:prstGeom>
          <a:noFill/>
        </p:spPr>
        <p:txBody>
          <a:bodyPr wrap="square">
            <a:spAutoFit/>
          </a:bodyPr>
          <a:lstStyle/>
          <a:p>
            <a:pPr algn="r">
              <a:spcBef>
                <a:spcPts val="0"/>
              </a:spcBef>
              <a:spcAft>
                <a:spcPts val="600"/>
              </a:spcAft>
            </a:pPr>
            <a:r>
              <a:rPr sz="1000" b="0" i="0">
                <a:solidFill>
                  <a:srgbClr val="7C9298"/>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